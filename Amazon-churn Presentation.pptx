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B38C7B8-D4F2-4D7B-9D8A-9CC9A9FA8091}">
          <p14:sldIdLst>
            <p14:sldId id="256"/>
            <p14:sldId id="257"/>
            <p14:sldId id="259"/>
            <p14:sldId id="258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FDB430-6712-47A8-8306-9ACF69844E2B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A3831C-3876-4DD9-A1CA-103BC8FE5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07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A3831C-3876-4DD9-A1CA-103BC8FE5FB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042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28923-EC96-747D-D4FE-2FB2143BDC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0F1D7B-C553-6508-A6C8-A4A48FCE13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64E80-4CD6-9F87-12FB-5E203BF7C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B4680-E7DB-422E-8438-AF84E20F70A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529B9-ABF7-0558-3AFB-50F3332AF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B3951-F7D0-7B7C-2217-DB3809583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84F2-4CA3-4233-9E31-590A71725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909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F26C9-3DA9-52E3-6E84-E361ECBEB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97BC3-80ED-A367-841B-06928F812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651CB-D43C-55AE-07A7-DC9A7F45A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B4680-E7DB-422E-8438-AF84E20F70A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A902D-D63A-AA0B-1EFF-09C3BC186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9FD74-FD01-45FA-54D9-FFF1B7766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84F2-4CA3-4233-9E31-590A71725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674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04F4F-CE61-38C0-EFF5-F25104882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F189B0-12BB-525E-D706-FC79A3E0B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C2A45-188A-34A1-FBB5-BB0140E75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B4680-E7DB-422E-8438-AF84E20F70A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74BCA-C5B1-D311-BACF-86CC14A5E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69D5F-06BC-F73F-9360-8ED35E4BB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84F2-4CA3-4233-9E31-590A71725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881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F61C4-1CC3-DF1A-2B5E-446B6C3AB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FB576-F42A-1047-512E-56B3B8FE2E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DE31CC-1A30-836F-BFA8-4FC489D9C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A73911-F9AB-53CE-920E-D34B16CB1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B4680-E7DB-422E-8438-AF84E20F70A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83EE1B-27C2-BA15-AD27-4DADB3F1A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BB09B1-30C6-6F74-7BE5-B544B72D3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84F2-4CA3-4233-9E31-590A71725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213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C93A8-E0F1-3C19-EC14-107477E10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354B6F-9E20-9739-AB77-99EB28CED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9BEDDF-EC21-4707-06D2-A2DE49659E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710ED5-9D91-E65C-2CBC-3EB49F0CDA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DDE75E-9F68-CCD2-B191-3A7E32CA68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F27241-7288-00C4-AAC2-06E0DB67E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B4680-E7DB-422E-8438-AF84E20F70A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1DF174-1427-E779-68AC-20950C710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A224D3-D246-1E16-E849-40F6D33BC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84F2-4CA3-4233-9E31-590A71725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986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6C13A-9B52-4F91-601B-5B635DB83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721925-09DD-F4DC-9A87-4E2E2A726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B4680-E7DB-422E-8438-AF84E20F70A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305ACA-48A0-4208-8279-A1EE8594A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ADA3A4-2616-B117-167C-DC71BAA8E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84F2-4CA3-4233-9E31-590A71725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981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7C432A-E812-1509-56E8-553235EC7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B4680-E7DB-422E-8438-AF84E20F70A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E30EEF-0A0D-326A-CD2A-33DB56048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97BA62-8255-9244-B3B3-3F0BFCC8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84F2-4CA3-4233-9E31-590A71725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514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30D4F-44A6-1AB6-650C-133F3099E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28305-8DC6-CD08-8DC4-3A6212D83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815232-B4FD-9DB9-20D3-CD6F8390E6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0CDFDF-AA7B-5AE5-558C-974E6D08B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B4680-E7DB-422E-8438-AF84E20F70A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E1946-74C3-CEDC-6E08-27C38AA23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06A7A6-4F1D-6B13-7AB2-15C2534FE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84F2-4CA3-4233-9E31-590A71725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09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CE116-30E2-E310-70F3-90D294D82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BEAB6C-346B-1E80-3429-0FFCC6310E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D59EB-403B-E174-4B37-C9FA18E6C1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EF6A15-1E27-F8E7-9D71-6B5EF8CAC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B4680-E7DB-422E-8438-AF84E20F70A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307754-497F-176A-877B-EBD86FBC7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6E7F7-7078-36D5-45DF-0C9503C3E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84F2-4CA3-4233-9E31-590A71725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621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7E9C9-AEA7-CA7D-BC73-9FA72F51A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28D15E-6243-B8D6-2784-78F907BB6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487B7-FD7D-80B3-2EB4-198B8C294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B4680-E7DB-422E-8438-AF84E20F70A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B8D74-204B-CAE8-B224-DE7728E48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0EB76-9998-4A51-F331-C9B6E2C43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84F2-4CA3-4233-9E31-590A71725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372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EBB3EA-2219-20C5-C95F-56AF1FD296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140B65-7BF4-3A24-5A01-F4EA69B7B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A0EE9-9274-815E-0E01-4799BDABF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B4680-E7DB-422E-8438-AF84E20F70A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DECAB-7C19-7BF8-3422-49F64CC21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C37C9-D772-1C87-AE13-B4F40BF6A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884F2-4CA3-4233-9E31-590A71725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957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5B9E94-2FAA-B85E-00E9-D798DDC8F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5F4CC-3433-B81E-95B8-924B229A4C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0EFEB-7608-F45C-27B0-4897266ABA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4B4680-E7DB-422E-8438-AF84E20F70A7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9993D-7381-B374-1971-C2FFFE2A24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71BD5-293B-9C61-44C7-50953825E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1884F2-4CA3-4233-9E31-590A71725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743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Amazon now has more than 150 million Prime members after huge holiday  season | The Verge">
            <a:extLst>
              <a:ext uri="{FF2B5EF4-FFF2-40B4-BE49-F238E27FC236}">
                <a16:creationId xmlns:a16="http://schemas.microsoft.com/office/drawing/2014/main" id="{57C80648-8D6D-9EBE-7CEA-C46C3ADD8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5096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48D723-E88C-C6D7-6ABF-9A7282B82BB6}"/>
              </a:ext>
            </a:extLst>
          </p:cNvPr>
          <p:cNvSpPr txBox="1"/>
          <p:nvPr/>
        </p:nvSpPr>
        <p:spPr>
          <a:xfrm>
            <a:off x="2438400" y="5096086"/>
            <a:ext cx="7541342" cy="68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500" b="1" dirty="0">
                <a:solidFill>
                  <a:srgbClr val="FFA500"/>
                </a:solidFill>
                <a:latin typeface="Aptos" panose="020B0004020202020204" pitchFamily="34" charset="0"/>
                <a:ea typeface="Raleway" pitchFamily="34" charset="-122"/>
                <a:cs typeface="Raleway" pitchFamily="34" charset="-120"/>
              </a:rPr>
              <a:t>Amazon Customer Churn Prediction</a:t>
            </a:r>
            <a:endParaRPr lang="en-US" sz="3500" b="1" dirty="0">
              <a:solidFill>
                <a:srgbClr val="FFA5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84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438B2-57D4-8A81-3B2C-ED1E9317F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91614"/>
            <a:ext cx="10512424" cy="1209368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rgbClr val="FFA500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Machine Learning Study for Customer Retention Optimization</a:t>
            </a:r>
            <a:br>
              <a:rPr lang="en-US" sz="3000" dirty="0">
                <a:solidFill>
                  <a:srgbClr val="FFA500"/>
                </a:solidFill>
                <a:latin typeface="Aptos" panose="020B0004020202020204" pitchFamily="34" charset="0"/>
              </a:rPr>
            </a:br>
            <a:endParaRPr lang="en-US" sz="3000" dirty="0">
              <a:solidFill>
                <a:srgbClr val="FFA500"/>
              </a:solidFill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6AEA1-CB87-94E6-1CE5-190FED8D1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6745" y="3076883"/>
            <a:ext cx="7190509" cy="1070263"/>
          </a:xfrm>
        </p:spPr>
        <p:txBody>
          <a:bodyPr/>
          <a:lstStyle/>
          <a:p>
            <a:pPr marL="0" indent="0">
              <a:buNone/>
            </a:pPr>
            <a:r>
              <a:rPr lang="en-US" sz="2600" u="sng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Approach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3C3939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	   Machine learning modeling with explainable AI (SHAP)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A9C3A6-ECD4-D39F-92FA-BCD98C3324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6745" y="2036618"/>
            <a:ext cx="6776749" cy="1209368"/>
          </a:xfrm>
        </p:spPr>
        <p:txBody>
          <a:bodyPr>
            <a:normAutofit/>
          </a:bodyPr>
          <a:lstStyle/>
          <a:p>
            <a:r>
              <a:rPr lang="en-US" sz="2600" u="sng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Object</a:t>
            </a:r>
            <a:endParaRPr lang="en-US" u="sng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rgbClr val="3C3939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	Identify customers at risk of churn before they disengage</a:t>
            </a:r>
            <a:endParaRPr lang="en-US" dirty="0">
              <a:latin typeface="Aptos" panose="020B0004020202020204" pitchFamily="34" charset="0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5D48C6-55EC-77F1-CF8A-CEFD3D8AD6A2}"/>
              </a:ext>
            </a:extLst>
          </p:cNvPr>
          <p:cNvSpPr txBox="1"/>
          <p:nvPr/>
        </p:nvSpPr>
        <p:spPr>
          <a:xfrm>
            <a:off x="976745" y="4105164"/>
            <a:ext cx="7190509" cy="184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600" u="sng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</a:rPr>
              <a:t>Outcome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600" dirty="0">
                <a:solidFill>
                  <a:schemeClr val="accent1">
                    <a:lumMod val="75000"/>
                  </a:schemeClr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	</a:t>
            </a:r>
            <a:r>
              <a:rPr lang="en-US" sz="1600" dirty="0">
                <a:solidFill>
                  <a:srgbClr val="3C3939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Actionable retention strategies driven by key churn predictors</a:t>
            </a:r>
          </a:p>
          <a:p>
            <a:pPr>
              <a:lnSpc>
                <a:spcPts val="2400"/>
              </a:lnSpc>
            </a:pPr>
            <a:endParaRPr lang="en-US" dirty="0">
              <a:solidFill>
                <a:srgbClr val="3C3939"/>
              </a:solidFill>
              <a:latin typeface="Raleway" pitchFamily="34" charset="0"/>
            </a:endParaRPr>
          </a:p>
          <a:p>
            <a:pPr>
              <a:lnSpc>
                <a:spcPts val="2400"/>
              </a:lnSpc>
            </a:pPr>
            <a:endParaRPr lang="en-US" dirty="0">
              <a:solidFill>
                <a:srgbClr val="3C3939"/>
              </a:solidFill>
              <a:latin typeface="Raleway" pitchFamily="34" charset="0"/>
            </a:endParaRPr>
          </a:p>
          <a:p>
            <a:pPr>
              <a:lnSpc>
                <a:spcPts val="2400"/>
              </a:lnSpc>
            </a:pPr>
            <a:r>
              <a:rPr lang="en-US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Prepared using Machine Learning and SHAP Explainability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075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2AE5C-F03A-8ACB-83FC-D0C73186B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10512424" cy="955964"/>
          </a:xfrm>
        </p:spPr>
        <p:txBody>
          <a:bodyPr>
            <a:normAutofit fontScale="90000"/>
          </a:bodyPr>
          <a:lstStyle/>
          <a:p>
            <a:r>
              <a:rPr lang="en-US" sz="3500" dirty="0">
                <a:solidFill>
                  <a:srgbClr val="FFA500"/>
                </a:solidFill>
                <a:latin typeface="Aptos" panose="020B0004020202020204" pitchFamily="34" charset="0"/>
                <a:ea typeface="Raleway" pitchFamily="34" charset="-122"/>
                <a:cs typeface="Raleway" pitchFamily="34" charset="-120"/>
              </a:rPr>
              <a:t>Customer Retention Challenge</a:t>
            </a:r>
            <a:br>
              <a:rPr lang="en-US" dirty="0">
                <a:solidFill>
                  <a:srgbClr val="FFA500"/>
                </a:solidFill>
                <a:latin typeface="Aptos" panose="020B0004020202020204" pitchFamily="34" charset="0"/>
              </a:rPr>
            </a:br>
            <a:endParaRPr lang="en-US" dirty="0">
              <a:solidFill>
                <a:srgbClr val="FFA50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184EF6-A0BD-5781-8BCA-675CE2D507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37216" y="1413164"/>
            <a:ext cx="10512424" cy="208857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Churn is one of the costliest threats to sustainable revenue growth. Early identification of at-risk customers is the first step toward building an effective, proactive retention strategy.</a:t>
            </a:r>
          </a:p>
          <a:p>
            <a:pPr>
              <a:lnSpc>
                <a:spcPct val="100000"/>
              </a:lnSpc>
            </a:pPr>
            <a:endParaRPr lang="en-US" sz="15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churn directly impacts revenue and long-term growth trajectories.</a:t>
            </a:r>
            <a:endParaRPr lang="en-US" sz="15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Retaining existing customers is significantly cheaper than acquiring new ones — often 5–7× less costly.</a:t>
            </a:r>
            <a:endParaRPr lang="en-US" sz="15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Identifying churn signals early enables targeted, proactive intervention before customers disengage.</a:t>
            </a:r>
            <a:endParaRPr lang="en-US" sz="1500" dirty="0"/>
          </a:p>
          <a:p>
            <a:pPr marL="342900" indent="-342900">
              <a:lnSpc>
                <a:spcPct val="100000"/>
              </a:lnSpc>
              <a:buSzPct val="100000"/>
              <a:buChar char="•"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Data-driven churn prediction allows businesses to prioritize high-risk customers for retention spend.</a:t>
            </a:r>
            <a:endParaRPr lang="en-US" sz="1500" dirty="0"/>
          </a:p>
          <a:p>
            <a:pPr>
              <a:lnSpc>
                <a:spcPct val="100000"/>
              </a:lnSpc>
            </a:pPr>
            <a:endParaRPr lang="en-US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2406E3E-8887-766B-3C8A-D1364112D844}"/>
              </a:ext>
            </a:extLst>
          </p:cNvPr>
          <p:cNvSpPr/>
          <p:nvPr/>
        </p:nvSpPr>
        <p:spPr>
          <a:xfrm>
            <a:off x="1201025" y="3635152"/>
            <a:ext cx="8600032" cy="2869763"/>
          </a:xfrm>
          <a:prstGeom prst="roundRect">
            <a:avLst>
              <a:gd name="adj" fmla="val 290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6208F76-6A7B-4810-A382-834C48BBA179}"/>
              </a:ext>
            </a:extLst>
          </p:cNvPr>
          <p:cNvSpPr/>
          <p:nvPr/>
        </p:nvSpPr>
        <p:spPr>
          <a:xfrm>
            <a:off x="1463243" y="3657252"/>
            <a:ext cx="8589983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472EC92-9B5B-41B8-D7F2-9105D6ED2CE0}"/>
              </a:ext>
            </a:extLst>
          </p:cNvPr>
          <p:cNvSpPr/>
          <p:nvPr/>
        </p:nvSpPr>
        <p:spPr>
          <a:xfrm>
            <a:off x="1407121" y="3769454"/>
            <a:ext cx="317188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Business Challenge</a:t>
            </a:r>
            <a:endParaRPr lang="en-US" sz="15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D636862-FFA1-5534-AF75-E0AFBBF59DD8}"/>
              </a:ext>
            </a:extLst>
          </p:cNvPr>
          <p:cNvSpPr/>
          <p:nvPr/>
        </p:nvSpPr>
        <p:spPr>
          <a:xfrm>
            <a:off x="6621940" y="3769454"/>
            <a:ext cx="48898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Impact</a:t>
            </a:r>
            <a:endParaRPr lang="en-US" sz="15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55629EE-C147-50F1-37F1-B44CA5FA5117}"/>
              </a:ext>
            </a:extLst>
          </p:cNvPr>
          <p:cNvSpPr/>
          <p:nvPr/>
        </p:nvSpPr>
        <p:spPr>
          <a:xfrm>
            <a:off x="1208644" y="4213676"/>
            <a:ext cx="8589983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ED70B8A-E004-7B37-37B1-F3D498C07E25}"/>
              </a:ext>
            </a:extLst>
          </p:cNvPr>
          <p:cNvSpPr/>
          <p:nvPr/>
        </p:nvSpPr>
        <p:spPr>
          <a:xfrm>
            <a:off x="1407121" y="4340359"/>
            <a:ext cx="317188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inactivity</a:t>
            </a:r>
            <a:endParaRPr lang="en-US" sz="15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8DD3658-EEDC-87CE-69C5-637F752DD9F9}"/>
              </a:ext>
            </a:extLst>
          </p:cNvPr>
          <p:cNvSpPr/>
          <p:nvPr/>
        </p:nvSpPr>
        <p:spPr>
          <a:xfrm>
            <a:off x="6621940" y="4340359"/>
            <a:ext cx="48898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loss</a:t>
            </a:r>
            <a:endParaRPr lang="en-US" sz="15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4018E3E4-BFD2-EBDF-FFDA-788585A1D444}"/>
              </a:ext>
            </a:extLst>
          </p:cNvPr>
          <p:cNvSpPr/>
          <p:nvPr/>
        </p:nvSpPr>
        <p:spPr>
          <a:xfrm>
            <a:off x="1208644" y="4784581"/>
            <a:ext cx="8589983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80A5AD1-41F1-AA48-DBFC-C1B43D00DA7A}"/>
              </a:ext>
            </a:extLst>
          </p:cNvPr>
          <p:cNvSpPr/>
          <p:nvPr/>
        </p:nvSpPr>
        <p:spPr>
          <a:xfrm>
            <a:off x="1407121" y="4911263"/>
            <a:ext cx="317188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dissatisfaction</a:t>
            </a:r>
            <a:endParaRPr lang="en-US" sz="15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C146A10-C002-8313-269B-2BC8461A0C82}"/>
              </a:ext>
            </a:extLst>
          </p:cNvPr>
          <p:cNvSpPr/>
          <p:nvPr/>
        </p:nvSpPr>
        <p:spPr>
          <a:xfrm>
            <a:off x="6621940" y="4911263"/>
            <a:ext cx="48898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Reduced loyalty and brand equity</a:t>
            </a:r>
            <a:endParaRPr lang="en-US" sz="15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7577ABC-6FDC-892C-2ABF-05E256217660}"/>
              </a:ext>
            </a:extLst>
          </p:cNvPr>
          <p:cNvSpPr/>
          <p:nvPr/>
        </p:nvSpPr>
        <p:spPr>
          <a:xfrm>
            <a:off x="1208644" y="5355486"/>
            <a:ext cx="8589983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0806141-D04C-74C0-F9DD-E6EE31977111}"/>
              </a:ext>
            </a:extLst>
          </p:cNvPr>
          <p:cNvSpPr/>
          <p:nvPr/>
        </p:nvSpPr>
        <p:spPr>
          <a:xfrm>
            <a:off x="1407121" y="5482168"/>
            <a:ext cx="317188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Declining engagement</a:t>
            </a:r>
            <a:endParaRPr lang="en-US" sz="15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D4524C3-61E1-0F2A-59DA-4DAD69228D0A}"/>
              </a:ext>
            </a:extLst>
          </p:cNvPr>
          <p:cNvSpPr/>
          <p:nvPr/>
        </p:nvSpPr>
        <p:spPr>
          <a:xfrm>
            <a:off x="6621940" y="5482168"/>
            <a:ext cx="48898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Increased churn probability</a:t>
            </a:r>
            <a:endParaRPr lang="en-US" sz="155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6FC48C9-6DB2-7D46-B338-C8828614F6DD}"/>
              </a:ext>
            </a:extLst>
          </p:cNvPr>
          <p:cNvSpPr/>
          <p:nvPr/>
        </p:nvSpPr>
        <p:spPr>
          <a:xfrm>
            <a:off x="1208644" y="5926390"/>
            <a:ext cx="8589983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5DA137E-7C9C-C110-64FA-3B82025410B5}"/>
              </a:ext>
            </a:extLst>
          </p:cNvPr>
          <p:cNvSpPr/>
          <p:nvPr/>
        </p:nvSpPr>
        <p:spPr>
          <a:xfrm>
            <a:off x="1407121" y="6053073"/>
            <a:ext cx="317188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Lack of retention targeting</a:t>
            </a:r>
            <a:endParaRPr lang="en-US" sz="15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11DB64A-C7B4-DD77-9791-5DAA80DE5929}"/>
              </a:ext>
            </a:extLst>
          </p:cNvPr>
          <p:cNvSpPr/>
          <p:nvPr/>
        </p:nvSpPr>
        <p:spPr>
          <a:xfrm>
            <a:off x="6621940" y="6053073"/>
            <a:ext cx="48898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Inefficient marketing spend</a:t>
            </a:r>
            <a:endParaRPr lang="en-US" sz="1550" dirty="0"/>
          </a:p>
        </p:txBody>
      </p:sp>
    </p:spTree>
    <p:extLst>
      <p:ext uri="{BB962C8B-B14F-4D97-AF65-F5344CB8AC3E}">
        <p14:creationId xmlns:p14="http://schemas.microsoft.com/office/powerpoint/2010/main" val="564710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60BAC-C74D-28A7-6909-213C3C971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54734"/>
            <a:ext cx="10515600" cy="1325563"/>
          </a:xfrm>
        </p:spPr>
        <p:txBody>
          <a:bodyPr/>
          <a:lstStyle/>
          <a:p>
            <a:r>
              <a:rPr lang="en-US" sz="3500" dirty="0">
                <a:solidFill>
                  <a:srgbClr val="FFA500"/>
                </a:solidFill>
                <a:latin typeface="Aptos" panose="020B0004020202020204" pitchFamily="34" charset="0"/>
                <a:ea typeface="Raleway" pitchFamily="34" charset="-122"/>
                <a:cs typeface="Raleway" pitchFamily="34" charset="-120"/>
              </a:rPr>
              <a:t>Customer Behavioral Data Used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FE551-5A43-6208-2652-8BB79CA135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1139825"/>
            <a:ext cx="10664536" cy="5404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model was trained on a rich set of behavioral, transactional, and satisfaction signals. Together, these variables capture a 360° view of customer engagement and highlight early warning indicators of churn.</a:t>
            </a:r>
            <a:endParaRPr lang="en-US" sz="15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1" name="Shape 2">
            <a:extLst>
              <a:ext uri="{FF2B5EF4-FFF2-40B4-BE49-F238E27FC236}">
                <a16:creationId xmlns:a16="http://schemas.microsoft.com/office/drawing/2014/main" id="{4C5D53D7-4DA4-5FAB-AA4C-7BEAD3AD4855}"/>
              </a:ext>
            </a:extLst>
          </p:cNvPr>
          <p:cNvSpPr/>
          <p:nvPr/>
        </p:nvSpPr>
        <p:spPr>
          <a:xfrm>
            <a:off x="929640" y="1714817"/>
            <a:ext cx="10328742" cy="4003358"/>
          </a:xfrm>
          <a:prstGeom prst="roundRect">
            <a:avLst>
              <a:gd name="adj" fmla="val 191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2" name="Shape 3">
            <a:extLst>
              <a:ext uri="{FF2B5EF4-FFF2-40B4-BE49-F238E27FC236}">
                <a16:creationId xmlns:a16="http://schemas.microsoft.com/office/drawing/2014/main" id="{80D10DB5-FBBC-DE4B-FDF2-FCB7CC6F9D56}"/>
              </a:ext>
            </a:extLst>
          </p:cNvPr>
          <p:cNvSpPr/>
          <p:nvPr/>
        </p:nvSpPr>
        <p:spPr>
          <a:xfrm>
            <a:off x="762000" y="1743697"/>
            <a:ext cx="10316787" cy="48385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3" name="Text 4">
            <a:extLst>
              <a:ext uri="{FF2B5EF4-FFF2-40B4-BE49-F238E27FC236}">
                <a16:creationId xmlns:a16="http://schemas.microsoft.com/office/drawing/2014/main" id="{3812F194-A241-58DD-EE02-4D3A39D95B71}"/>
              </a:ext>
            </a:extLst>
          </p:cNvPr>
          <p:cNvSpPr/>
          <p:nvPr/>
        </p:nvSpPr>
        <p:spPr>
          <a:xfrm>
            <a:off x="1120259" y="1831141"/>
            <a:ext cx="2805119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 Category</a:t>
            </a:r>
            <a:endParaRPr lang="en-US" sz="1400" dirty="0"/>
          </a:p>
        </p:txBody>
      </p:sp>
      <p:sp>
        <p:nvSpPr>
          <p:cNvPr id="64" name="Text 5">
            <a:extLst>
              <a:ext uri="{FF2B5EF4-FFF2-40B4-BE49-F238E27FC236}">
                <a16:creationId xmlns:a16="http://schemas.microsoft.com/office/drawing/2014/main" id="{7FBE0B5F-73E1-E184-3390-D55497230E35}"/>
              </a:ext>
            </a:extLst>
          </p:cNvPr>
          <p:cNvSpPr/>
          <p:nvPr/>
        </p:nvSpPr>
        <p:spPr>
          <a:xfrm>
            <a:off x="5069682" y="1831141"/>
            <a:ext cx="6931778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Variables</a:t>
            </a:r>
            <a:endParaRPr lang="en-US" sz="1400" dirty="0"/>
          </a:p>
        </p:txBody>
      </p:sp>
      <p:sp>
        <p:nvSpPr>
          <p:cNvPr id="65" name="Shape 6">
            <a:extLst>
              <a:ext uri="{FF2B5EF4-FFF2-40B4-BE49-F238E27FC236}">
                <a16:creationId xmlns:a16="http://schemas.microsoft.com/office/drawing/2014/main" id="{CF3D4FDD-0020-0B56-8A58-E508B1D655B8}"/>
              </a:ext>
            </a:extLst>
          </p:cNvPr>
          <p:cNvSpPr/>
          <p:nvPr/>
        </p:nvSpPr>
        <p:spPr>
          <a:xfrm>
            <a:off x="937260" y="2220951"/>
            <a:ext cx="10316787" cy="49851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8CF722BA-EE81-734C-6277-68C98C82B218}"/>
              </a:ext>
            </a:extLst>
          </p:cNvPr>
          <p:cNvSpPr/>
          <p:nvPr/>
        </p:nvSpPr>
        <p:spPr>
          <a:xfrm>
            <a:off x="1120259" y="2329655"/>
            <a:ext cx="2805119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Activity</a:t>
            </a:r>
            <a:endParaRPr lang="en-US" sz="1400" dirty="0"/>
          </a:p>
        </p:txBody>
      </p:sp>
      <p:sp>
        <p:nvSpPr>
          <p:cNvPr id="67" name="Text 8">
            <a:extLst>
              <a:ext uri="{FF2B5EF4-FFF2-40B4-BE49-F238E27FC236}">
                <a16:creationId xmlns:a16="http://schemas.microsoft.com/office/drawing/2014/main" id="{9C2CD3A6-2F75-FE64-46D1-57CE1F5A8D8C}"/>
              </a:ext>
            </a:extLst>
          </p:cNvPr>
          <p:cNvSpPr/>
          <p:nvPr/>
        </p:nvSpPr>
        <p:spPr>
          <a:xfrm>
            <a:off x="5069682" y="2329655"/>
            <a:ext cx="6931778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orders_4w, spend_4w, sessions_4w</a:t>
            </a:r>
            <a:endParaRPr lang="en-US" sz="1400" dirty="0"/>
          </a:p>
        </p:txBody>
      </p:sp>
      <p:sp>
        <p:nvSpPr>
          <p:cNvPr id="68" name="Shape 9">
            <a:extLst>
              <a:ext uri="{FF2B5EF4-FFF2-40B4-BE49-F238E27FC236}">
                <a16:creationId xmlns:a16="http://schemas.microsoft.com/office/drawing/2014/main" id="{D939B6C4-5876-9908-6348-8A73C7A035B2}"/>
              </a:ext>
            </a:extLst>
          </p:cNvPr>
          <p:cNvSpPr/>
          <p:nvPr/>
        </p:nvSpPr>
        <p:spPr>
          <a:xfrm>
            <a:off x="937260" y="2719466"/>
            <a:ext cx="10316787" cy="4985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9" name="Text 10">
            <a:extLst>
              <a:ext uri="{FF2B5EF4-FFF2-40B4-BE49-F238E27FC236}">
                <a16:creationId xmlns:a16="http://schemas.microsoft.com/office/drawing/2014/main" id="{F063FBF4-F32C-306C-2524-6FAE7BE3CB87}"/>
              </a:ext>
            </a:extLst>
          </p:cNvPr>
          <p:cNvSpPr/>
          <p:nvPr/>
        </p:nvSpPr>
        <p:spPr>
          <a:xfrm>
            <a:off x="1120259" y="2828170"/>
            <a:ext cx="2805119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Engagement</a:t>
            </a:r>
            <a:endParaRPr lang="en-US" sz="1400" dirty="0"/>
          </a:p>
        </p:txBody>
      </p:sp>
      <p:sp>
        <p:nvSpPr>
          <p:cNvPr id="70" name="Text 11">
            <a:extLst>
              <a:ext uri="{FF2B5EF4-FFF2-40B4-BE49-F238E27FC236}">
                <a16:creationId xmlns:a16="http://schemas.microsoft.com/office/drawing/2014/main" id="{17B2651D-F8F5-AD26-3D6C-91C25A1F6067}"/>
              </a:ext>
            </a:extLst>
          </p:cNvPr>
          <p:cNvSpPr/>
          <p:nvPr/>
        </p:nvSpPr>
        <p:spPr>
          <a:xfrm>
            <a:off x="5069682" y="2828170"/>
            <a:ext cx="6931778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pct_orders_with_coupon_4w, avg_discount_pct_4w</a:t>
            </a:r>
            <a:endParaRPr lang="en-US" sz="1400" dirty="0"/>
          </a:p>
        </p:txBody>
      </p:sp>
      <p:sp>
        <p:nvSpPr>
          <p:cNvPr id="71" name="Shape 12">
            <a:extLst>
              <a:ext uri="{FF2B5EF4-FFF2-40B4-BE49-F238E27FC236}">
                <a16:creationId xmlns:a16="http://schemas.microsoft.com/office/drawing/2014/main" id="{ABC8B397-8810-808A-7BA4-A58CCA2D603A}"/>
              </a:ext>
            </a:extLst>
          </p:cNvPr>
          <p:cNvSpPr/>
          <p:nvPr/>
        </p:nvSpPr>
        <p:spPr>
          <a:xfrm>
            <a:off x="937260" y="3217981"/>
            <a:ext cx="10316787" cy="49851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72" name="Text 13">
            <a:extLst>
              <a:ext uri="{FF2B5EF4-FFF2-40B4-BE49-F238E27FC236}">
                <a16:creationId xmlns:a16="http://schemas.microsoft.com/office/drawing/2014/main" id="{5866C5F4-5387-2561-981B-30870F3DBD36}"/>
              </a:ext>
            </a:extLst>
          </p:cNvPr>
          <p:cNvSpPr/>
          <p:nvPr/>
        </p:nvSpPr>
        <p:spPr>
          <a:xfrm>
            <a:off x="1120259" y="3326685"/>
            <a:ext cx="2805119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Experience</a:t>
            </a:r>
            <a:endParaRPr lang="en-US" sz="1400" dirty="0"/>
          </a:p>
        </p:txBody>
      </p:sp>
      <p:sp>
        <p:nvSpPr>
          <p:cNvPr id="73" name="Text 14">
            <a:extLst>
              <a:ext uri="{FF2B5EF4-FFF2-40B4-BE49-F238E27FC236}">
                <a16:creationId xmlns:a16="http://schemas.microsoft.com/office/drawing/2014/main" id="{8B1EB1DD-53AF-69AD-74AB-C8F54D8C2008}"/>
              </a:ext>
            </a:extLst>
          </p:cNvPr>
          <p:cNvSpPr/>
          <p:nvPr/>
        </p:nvSpPr>
        <p:spPr>
          <a:xfrm>
            <a:off x="5069682" y="3326685"/>
            <a:ext cx="6931778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returns_12w, tickets_12w</a:t>
            </a:r>
            <a:endParaRPr lang="en-US" sz="1400" dirty="0"/>
          </a:p>
        </p:txBody>
      </p:sp>
      <p:sp>
        <p:nvSpPr>
          <p:cNvPr id="74" name="Shape 15">
            <a:extLst>
              <a:ext uri="{FF2B5EF4-FFF2-40B4-BE49-F238E27FC236}">
                <a16:creationId xmlns:a16="http://schemas.microsoft.com/office/drawing/2014/main" id="{CDE95EBA-F894-30E4-CFB3-CB5557D3F150}"/>
              </a:ext>
            </a:extLst>
          </p:cNvPr>
          <p:cNvSpPr/>
          <p:nvPr/>
        </p:nvSpPr>
        <p:spPr>
          <a:xfrm>
            <a:off x="937260" y="3716495"/>
            <a:ext cx="10316787" cy="4985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5" name="Text 16">
            <a:extLst>
              <a:ext uri="{FF2B5EF4-FFF2-40B4-BE49-F238E27FC236}">
                <a16:creationId xmlns:a16="http://schemas.microsoft.com/office/drawing/2014/main" id="{FCE130B9-F01D-FBA8-883F-C2827F07B2A0}"/>
              </a:ext>
            </a:extLst>
          </p:cNvPr>
          <p:cNvSpPr/>
          <p:nvPr/>
        </p:nvSpPr>
        <p:spPr>
          <a:xfrm>
            <a:off x="1120259" y="3825200"/>
            <a:ext cx="2805119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Satisfaction</a:t>
            </a:r>
            <a:endParaRPr lang="en-US" sz="1400" dirty="0"/>
          </a:p>
        </p:txBody>
      </p:sp>
      <p:sp>
        <p:nvSpPr>
          <p:cNvPr id="76" name="Text 17">
            <a:extLst>
              <a:ext uri="{FF2B5EF4-FFF2-40B4-BE49-F238E27FC236}">
                <a16:creationId xmlns:a16="http://schemas.microsoft.com/office/drawing/2014/main" id="{CB58B50C-253D-C2FF-2E04-9F24360269D2}"/>
              </a:ext>
            </a:extLst>
          </p:cNvPr>
          <p:cNvSpPr/>
          <p:nvPr/>
        </p:nvSpPr>
        <p:spPr>
          <a:xfrm>
            <a:off x="5069682" y="3825200"/>
            <a:ext cx="6931778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avg_csat_12w</a:t>
            </a:r>
            <a:endParaRPr lang="en-US" sz="1400" dirty="0"/>
          </a:p>
        </p:txBody>
      </p:sp>
      <p:sp>
        <p:nvSpPr>
          <p:cNvPr id="77" name="Shape 18">
            <a:extLst>
              <a:ext uri="{FF2B5EF4-FFF2-40B4-BE49-F238E27FC236}">
                <a16:creationId xmlns:a16="http://schemas.microsoft.com/office/drawing/2014/main" id="{1E53CB94-578E-89EC-9EB5-BE740D355829}"/>
              </a:ext>
            </a:extLst>
          </p:cNvPr>
          <p:cNvSpPr/>
          <p:nvPr/>
        </p:nvSpPr>
        <p:spPr>
          <a:xfrm>
            <a:off x="937260" y="4215010"/>
            <a:ext cx="10316787" cy="49851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78" name="Text 19">
            <a:extLst>
              <a:ext uri="{FF2B5EF4-FFF2-40B4-BE49-F238E27FC236}">
                <a16:creationId xmlns:a16="http://schemas.microsoft.com/office/drawing/2014/main" id="{60147F50-132C-8217-4CC4-7211B5806AB1}"/>
              </a:ext>
            </a:extLst>
          </p:cNvPr>
          <p:cNvSpPr/>
          <p:nvPr/>
        </p:nvSpPr>
        <p:spPr>
          <a:xfrm>
            <a:off x="1120259" y="4323714"/>
            <a:ext cx="2805119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Recency</a:t>
            </a:r>
            <a:endParaRPr lang="en-US" sz="1400" dirty="0"/>
          </a:p>
        </p:txBody>
      </p:sp>
      <p:sp>
        <p:nvSpPr>
          <p:cNvPr id="79" name="Text 20">
            <a:extLst>
              <a:ext uri="{FF2B5EF4-FFF2-40B4-BE49-F238E27FC236}">
                <a16:creationId xmlns:a16="http://schemas.microsoft.com/office/drawing/2014/main" id="{AFED3420-B6BC-267F-FC72-6ECE36400148}"/>
              </a:ext>
            </a:extLst>
          </p:cNvPr>
          <p:cNvSpPr/>
          <p:nvPr/>
        </p:nvSpPr>
        <p:spPr>
          <a:xfrm>
            <a:off x="5069682" y="4323714"/>
            <a:ext cx="6931778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days_since_last_order</a:t>
            </a:r>
            <a:endParaRPr lang="en-US" sz="1400" dirty="0"/>
          </a:p>
        </p:txBody>
      </p:sp>
      <p:sp>
        <p:nvSpPr>
          <p:cNvPr id="80" name="Shape 21">
            <a:extLst>
              <a:ext uri="{FF2B5EF4-FFF2-40B4-BE49-F238E27FC236}">
                <a16:creationId xmlns:a16="http://schemas.microsoft.com/office/drawing/2014/main" id="{5E68B591-FC6C-DC8E-E05F-1715EB456EBA}"/>
              </a:ext>
            </a:extLst>
          </p:cNvPr>
          <p:cNvSpPr/>
          <p:nvPr/>
        </p:nvSpPr>
        <p:spPr>
          <a:xfrm>
            <a:off x="937260" y="4713525"/>
            <a:ext cx="10316787" cy="4985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1" name="Text 22">
            <a:extLst>
              <a:ext uri="{FF2B5EF4-FFF2-40B4-BE49-F238E27FC236}">
                <a16:creationId xmlns:a16="http://schemas.microsoft.com/office/drawing/2014/main" id="{B0643F45-DB95-1C15-EE2D-41D32D341036}"/>
              </a:ext>
            </a:extLst>
          </p:cNvPr>
          <p:cNvSpPr/>
          <p:nvPr/>
        </p:nvSpPr>
        <p:spPr>
          <a:xfrm>
            <a:off x="1120259" y="4822229"/>
            <a:ext cx="2805119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Attributes</a:t>
            </a:r>
            <a:endParaRPr lang="en-US" sz="1400" dirty="0"/>
          </a:p>
        </p:txBody>
      </p:sp>
      <p:sp>
        <p:nvSpPr>
          <p:cNvPr id="82" name="Text 23">
            <a:extLst>
              <a:ext uri="{FF2B5EF4-FFF2-40B4-BE49-F238E27FC236}">
                <a16:creationId xmlns:a16="http://schemas.microsoft.com/office/drawing/2014/main" id="{95EE6DE2-84A5-F48D-7606-7D9A605FB564}"/>
              </a:ext>
            </a:extLst>
          </p:cNvPr>
          <p:cNvSpPr/>
          <p:nvPr/>
        </p:nvSpPr>
        <p:spPr>
          <a:xfrm>
            <a:off x="5069682" y="4822229"/>
            <a:ext cx="6931778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city_tier, acquisition_channel</a:t>
            </a:r>
            <a:endParaRPr lang="en-US" sz="1400" dirty="0"/>
          </a:p>
        </p:txBody>
      </p:sp>
      <p:sp>
        <p:nvSpPr>
          <p:cNvPr id="83" name="Shape 24">
            <a:extLst>
              <a:ext uri="{FF2B5EF4-FFF2-40B4-BE49-F238E27FC236}">
                <a16:creationId xmlns:a16="http://schemas.microsoft.com/office/drawing/2014/main" id="{26F4349E-80C4-F5CB-2B1D-7653B6C9E87E}"/>
              </a:ext>
            </a:extLst>
          </p:cNvPr>
          <p:cNvSpPr/>
          <p:nvPr/>
        </p:nvSpPr>
        <p:spPr>
          <a:xfrm>
            <a:off x="937260" y="5212039"/>
            <a:ext cx="10316787" cy="49851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84" name="Text 25">
            <a:extLst>
              <a:ext uri="{FF2B5EF4-FFF2-40B4-BE49-F238E27FC236}">
                <a16:creationId xmlns:a16="http://schemas.microsoft.com/office/drawing/2014/main" id="{D9539AE7-32C4-4B46-47B5-565CB35A1B47}"/>
              </a:ext>
            </a:extLst>
          </p:cNvPr>
          <p:cNvSpPr/>
          <p:nvPr/>
        </p:nvSpPr>
        <p:spPr>
          <a:xfrm>
            <a:off x="1120259" y="5320744"/>
            <a:ext cx="2805119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Loyalty</a:t>
            </a:r>
            <a:endParaRPr lang="en-US" sz="14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B95848F6-74E8-A52B-824D-C2BA8E063144}"/>
              </a:ext>
            </a:extLst>
          </p:cNvPr>
          <p:cNvSpPr/>
          <p:nvPr/>
        </p:nvSpPr>
        <p:spPr>
          <a:xfrm>
            <a:off x="5069682" y="5320744"/>
            <a:ext cx="6931778" cy="281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prime_active_flag</a:t>
            </a:r>
            <a:endParaRPr lang="en-US" sz="1400" dirty="0"/>
          </a:p>
        </p:txBody>
      </p:sp>
      <p:sp>
        <p:nvSpPr>
          <p:cNvPr id="86" name="Shape 27">
            <a:extLst>
              <a:ext uri="{FF2B5EF4-FFF2-40B4-BE49-F238E27FC236}">
                <a16:creationId xmlns:a16="http://schemas.microsoft.com/office/drawing/2014/main" id="{175BC108-7EF2-5C07-B2B7-BC3D610CA592}"/>
              </a:ext>
            </a:extLst>
          </p:cNvPr>
          <p:cNvSpPr/>
          <p:nvPr/>
        </p:nvSpPr>
        <p:spPr>
          <a:xfrm>
            <a:off x="762000" y="5747055"/>
            <a:ext cx="10816936" cy="1019413"/>
          </a:xfrm>
          <a:prstGeom prst="roundRect">
            <a:avLst>
              <a:gd name="adj" fmla="val 7535"/>
            </a:avLst>
          </a:prstGeom>
          <a:solidFill>
            <a:srgbClr val="D2D2E0"/>
          </a:solidFill>
          <a:ln/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variables capture </a:t>
            </a:r>
            <a:r>
              <a:rPr lang="en-US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activity, engagement, and satisfaction signals</a:t>
            </a:r>
            <a:r>
              <a:rPr lang="en-US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the key behavioral indicators of churn risk identified in the literature and confirmed in model analysis.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631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D5021-F92F-D1A3-7F56-F345D5B69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664603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rgbClr val="FFA500"/>
                </a:solidFill>
                <a:latin typeface="Aptos" panose="020B0004020202020204" pitchFamily="34" charset="0"/>
                <a:ea typeface="Raleway" pitchFamily="34" charset="-122"/>
                <a:cs typeface="Raleway" pitchFamily="34" charset="-120"/>
              </a:rPr>
              <a:t>Machine Learning Models Evaluated</a:t>
            </a:r>
            <a:endParaRPr lang="en-US" sz="3500" dirty="0">
              <a:solidFill>
                <a:srgbClr val="FFA500"/>
              </a:solidFill>
              <a:latin typeface="Aptos" panose="020B0004020202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D6B0B0-1756-160B-6078-C9EA53DA78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9241" y="1748771"/>
            <a:ext cx="5183188" cy="4705231"/>
          </a:xfr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/>
          <a:lstStyle/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Evaluation Metrics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models were assessed on the following performance dimensions to ensure balanced predictive quality:</a:t>
            </a:r>
          </a:p>
          <a:p>
            <a:pPr marL="342900" indent="-342900">
              <a:lnSpc>
                <a:spcPts val="2100"/>
              </a:lnSpc>
              <a:buSzPct val="100000"/>
            </a:pPr>
            <a:r>
              <a:rPr lang="en-US" sz="1600" b="1" dirty="0">
                <a:solidFill>
                  <a:schemeClr val="tx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AUC</a:t>
            </a:r>
            <a:r>
              <a:rPr lang="en-US" sz="1600" dirty="0">
                <a:solidFill>
                  <a:schemeClr val="tx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Discriminatory power</a:t>
            </a:r>
            <a:endParaRPr lang="en-US" sz="1600" dirty="0">
              <a:solidFill>
                <a:schemeClr val="tx1"/>
              </a:solidFill>
            </a:endParaRPr>
          </a:p>
          <a:p>
            <a:pPr marL="342900" indent="-342900">
              <a:lnSpc>
                <a:spcPts val="2100"/>
              </a:lnSpc>
              <a:buSzPct val="100000"/>
            </a:pPr>
            <a:r>
              <a:rPr lang="en-US" sz="1600" b="1" dirty="0">
                <a:solidFill>
                  <a:schemeClr val="tx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Accuracy</a:t>
            </a:r>
            <a:r>
              <a:rPr lang="en-US" sz="1600" dirty="0">
                <a:solidFill>
                  <a:schemeClr val="tx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Overall correctness</a:t>
            </a:r>
            <a:endParaRPr lang="en-US" sz="1600" dirty="0">
              <a:solidFill>
                <a:schemeClr val="tx1"/>
              </a:solidFill>
            </a:endParaRPr>
          </a:p>
          <a:p>
            <a:pPr marL="342900" indent="-342900">
              <a:lnSpc>
                <a:spcPts val="2100"/>
              </a:lnSpc>
              <a:buSzPct val="100000"/>
            </a:pPr>
            <a:r>
              <a:rPr lang="en-US" sz="1600" b="1" dirty="0">
                <a:solidFill>
                  <a:schemeClr val="tx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Precision</a:t>
            </a:r>
            <a:r>
              <a:rPr lang="en-US" sz="1600" dirty="0">
                <a:solidFill>
                  <a:schemeClr val="tx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Churn prediction reliability</a:t>
            </a:r>
            <a:endParaRPr lang="en-US" sz="1600" dirty="0">
              <a:solidFill>
                <a:schemeClr val="tx1"/>
              </a:solidFill>
            </a:endParaRPr>
          </a:p>
          <a:p>
            <a:pPr marL="342900" indent="-342900">
              <a:lnSpc>
                <a:spcPts val="2100"/>
              </a:lnSpc>
              <a:buSzPct val="100000"/>
            </a:pPr>
            <a:r>
              <a:rPr lang="en-US" sz="1600" b="1" dirty="0">
                <a:solidFill>
                  <a:schemeClr val="tx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Recall</a:t>
            </a:r>
            <a:r>
              <a:rPr lang="en-US" sz="1600" dirty="0">
                <a:solidFill>
                  <a:schemeClr val="tx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Churn capture rate</a:t>
            </a:r>
            <a:endParaRPr lang="en-US" sz="1600" dirty="0">
              <a:solidFill>
                <a:schemeClr val="tx1"/>
              </a:solidFill>
            </a:endParaRPr>
          </a:p>
          <a:p>
            <a:pPr marL="342900" indent="-342900">
              <a:lnSpc>
                <a:spcPts val="2100"/>
              </a:lnSpc>
              <a:buSzPct val="100000"/>
            </a:pPr>
            <a:r>
              <a:rPr lang="en-US" sz="1600" b="1" dirty="0">
                <a:solidFill>
                  <a:schemeClr val="tx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F1 Score</a:t>
            </a:r>
            <a:r>
              <a:rPr lang="en-US" sz="1600" dirty="0">
                <a:solidFill>
                  <a:schemeClr val="tx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Precision-recall balance</a:t>
            </a: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EB53264E-B5F4-2226-C29A-337AD03A2C2B}"/>
              </a:ext>
            </a:extLst>
          </p:cNvPr>
          <p:cNvSpPr/>
          <p:nvPr/>
        </p:nvSpPr>
        <p:spPr>
          <a:xfrm>
            <a:off x="606137" y="1748771"/>
            <a:ext cx="5790480" cy="4817031"/>
          </a:xfrm>
          <a:prstGeom prst="roundRect">
            <a:avLst>
              <a:gd name="adj" fmla="val 155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0AFF2687-83E8-B6F7-F0BF-A9CBBE3D1BC0}"/>
              </a:ext>
            </a:extLst>
          </p:cNvPr>
          <p:cNvSpPr/>
          <p:nvPr/>
        </p:nvSpPr>
        <p:spPr>
          <a:xfrm>
            <a:off x="3214587" y="1643902"/>
            <a:ext cx="5776653" cy="48017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1FA7931E-2977-7895-9107-B4C2980FAF03}"/>
              </a:ext>
            </a:extLst>
          </p:cNvPr>
          <p:cNvSpPr/>
          <p:nvPr/>
        </p:nvSpPr>
        <p:spPr>
          <a:xfrm>
            <a:off x="792588" y="1860571"/>
            <a:ext cx="2849384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</a:t>
            </a:r>
            <a:endParaRPr lang="en-US" sz="14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EA8661C7-9A79-F0A3-596B-07758C6E74B9}"/>
              </a:ext>
            </a:extLst>
          </p:cNvPr>
          <p:cNvSpPr/>
          <p:nvPr/>
        </p:nvSpPr>
        <p:spPr>
          <a:xfrm>
            <a:off x="4298146" y="1860571"/>
            <a:ext cx="2271664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Category</a:t>
            </a:r>
            <a:endParaRPr lang="en-US" sz="140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98258389-20DF-4A6B-C25A-677F0F8471EC}"/>
              </a:ext>
            </a:extLst>
          </p:cNvPr>
          <p:cNvSpPr/>
          <p:nvPr/>
        </p:nvSpPr>
        <p:spPr>
          <a:xfrm>
            <a:off x="613756" y="2236570"/>
            <a:ext cx="5776653" cy="48017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603F8B1D-DF57-3C29-82EB-FB56BCC5F133}"/>
              </a:ext>
            </a:extLst>
          </p:cNvPr>
          <p:cNvSpPr/>
          <p:nvPr/>
        </p:nvSpPr>
        <p:spPr>
          <a:xfrm>
            <a:off x="792588" y="2340750"/>
            <a:ext cx="2849384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405FED75-A6AF-F831-4227-2F2078934D70}"/>
              </a:ext>
            </a:extLst>
          </p:cNvPr>
          <p:cNvSpPr/>
          <p:nvPr/>
        </p:nvSpPr>
        <p:spPr>
          <a:xfrm>
            <a:off x="4298146" y="2340750"/>
            <a:ext cx="2271664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Linear Model</a:t>
            </a:r>
            <a:endParaRPr lang="en-US" sz="1400" dirty="0"/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F9D0F418-BAC2-78BD-EA8E-609EDF3BD27C}"/>
              </a:ext>
            </a:extLst>
          </p:cNvPr>
          <p:cNvSpPr/>
          <p:nvPr/>
        </p:nvSpPr>
        <p:spPr>
          <a:xfrm>
            <a:off x="613756" y="2716749"/>
            <a:ext cx="5776653" cy="48017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F52BF6CD-A3D4-B4E6-991D-A58E4C7E6B8C}"/>
              </a:ext>
            </a:extLst>
          </p:cNvPr>
          <p:cNvSpPr/>
          <p:nvPr/>
        </p:nvSpPr>
        <p:spPr>
          <a:xfrm>
            <a:off x="792588" y="2820929"/>
            <a:ext cx="2849384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Decision Tree</a:t>
            </a:r>
            <a:endParaRPr lang="en-US" sz="1400" dirty="0"/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B5DFDD1C-B2E6-9C4D-D314-91222BE73395}"/>
              </a:ext>
            </a:extLst>
          </p:cNvPr>
          <p:cNvSpPr/>
          <p:nvPr/>
        </p:nvSpPr>
        <p:spPr>
          <a:xfrm>
            <a:off x="4298146" y="2820929"/>
            <a:ext cx="2271664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Tree Based</a:t>
            </a:r>
            <a:endParaRPr lang="en-US" sz="1400" dirty="0"/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6EE6C6E2-7B45-B7C3-A311-C992D7665CBA}"/>
              </a:ext>
            </a:extLst>
          </p:cNvPr>
          <p:cNvSpPr/>
          <p:nvPr/>
        </p:nvSpPr>
        <p:spPr>
          <a:xfrm>
            <a:off x="613756" y="3196928"/>
            <a:ext cx="5776653" cy="48017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86D4F865-2A8D-E89C-5A10-7DB66FB7B4A4}"/>
              </a:ext>
            </a:extLst>
          </p:cNvPr>
          <p:cNvSpPr/>
          <p:nvPr/>
        </p:nvSpPr>
        <p:spPr>
          <a:xfrm>
            <a:off x="792588" y="3301108"/>
            <a:ext cx="2849384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48B789BA-D068-6FF1-99E3-C70933C6B9D6}"/>
              </a:ext>
            </a:extLst>
          </p:cNvPr>
          <p:cNvSpPr/>
          <p:nvPr/>
        </p:nvSpPr>
        <p:spPr>
          <a:xfrm>
            <a:off x="4298146" y="3301108"/>
            <a:ext cx="2271664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Ensemble Bagging</a:t>
            </a:r>
            <a:endParaRPr lang="en-US" sz="1400" dirty="0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6A0F10A3-0451-DC92-B33A-A9075B2C5189}"/>
              </a:ext>
            </a:extLst>
          </p:cNvPr>
          <p:cNvSpPr/>
          <p:nvPr/>
        </p:nvSpPr>
        <p:spPr>
          <a:xfrm>
            <a:off x="613756" y="3677107"/>
            <a:ext cx="5776653" cy="48017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5C3EF31B-810A-56B7-D1C1-CA42831B7F2B}"/>
              </a:ext>
            </a:extLst>
          </p:cNvPr>
          <p:cNvSpPr/>
          <p:nvPr/>
        </p:nvSpPr>
        <p:spPr>
          <a:xfrm>
            <a:off x="792588" y="3781287"/>
            <a:ext cx="2849384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AdaBoost</a:t>
            </a:r>
            <a:endParaRPr lang="en-US" sz="14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9343E13F-4D1B-ABB2-1312-FC06D64D911B}"/>
              </a:ext>
            </a:extLst>
          </p:cNvPr>
          <p:cNvSpPr/>
          <p:nvPr/>
        </p:nvSpPr>
        <p:spPr>
          <a:xfrm>
            <a:off x="4298146" y="3781287"/>
            <a:ext cx="2271664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Boosting</a:t>
            </a:r>
            <a:endParaRPr lang="en-US" sz="1400" dirty="0"/>
          </a:p>
        </p:txBody>
      </p:sp>
      <p:sp>
        <p:nvSpPr>
          <p:cNvPr id="23" name="Shape 18">
            <a:extLst>
              <a:ext uri="{FF2B5EF4-FFF2-40B4-BE49-F238E27FC236}">
                <a16:creationId xmlns:a16="http://schemas.microsoft.com/office/drawing/2014/main" id="{E37D2DA5-42FA-DF7B-A2EC-EFEAB6BED599}"/>
              </a:ext>
            </a:extLst>
          </p:cNvPr>
          <p:cNvSpPr/>
          <p:nvPr/>
        </p:nvSpPr>
        <p:spPr>
          <a:xfrm>
            <a:off x="613756" y="4157286"/>
            <a:ext cx="5776653" cy="48017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603F69EA-BF6F-F06A-E946-B28E54DDD29E}"/>
              </a:ext>
            </a:extLst>
          </p:cNvPr>
          <p:cNvSpPr/>
          <p:nvPr/>
        </p:nvSpPr>
        <p:spPr>
          <a:xfrm>
            <a:off x="792588" y="4261466"/>
            <a:ext cx="2849384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Gradient Boosting</a:t>
            </a:r>
            <a:endParaRPr lang="en-US" sz="14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6F0E3F14-255E-3460-E85B-0139A86F5E9B}"/>
              </a:ext>
            </a:extLst>
          </p:cNvPr>
          <p:cNvSpPr/>
          <p:nvPr/>
        </p:nvSpPr>
        <p:spPr>
          <a:xfrm>
            <a:off x="4298146" y="4261466"/>
            <a:ext cx="2271664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Boosting</a:t>
            </a:r>
            <a:endParaRPr lang="en-US" sz="1400" dirty="0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CA4B0FDB-607B-3A5F-954B-141BDC83E0C2}"/>
              </a:ext>
            </a:extLst>
          </p:cNvPr>
          <p:cNvSpPr/>
          <p:nvPr/>
        </p:nvSpPr>
        <p:spPr>
          <a:xfrm>
            <a:off x="613756" y="4637465"/>
            <a:ext cx="5776653" cy="48017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FB6E3913-6F38-904F-AFFE-AAE0B45C39FC}"/>
              </a:ext>
            </a:extLst>
          </p:cNvPr>
          <p:cNvSpPr/>
          <p:nvPr/>
        </p:nvSpPr>
        <p:spPr>
          <a:xfrm>
            <a:off x="792588" y="4741645"/>
            <a:ext cx="2849384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XGBoost</a:t>
            </a:r>
            <a:endParaRPr lang="en-US" sz="1400" dirty="0"/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9F43A741-B7F2-4F33-AA94-71DF5724B35B}"/>
              </a:ext>
            </a:extLst>
          </p:cNvPr>
          <p:cNvSpPr/>
          <p:nvPr/>
        </p:nvSpPr>
        <p:spPr>
          <a:xfrm>
            <a:off x="4298146" y="4741645"/>
            <a:ext cx="2271664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 Boosting</a:t>
            </a:r>
            <a:endParaRPr lang="en-US" sz="1400" dirty="0"/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E1600671-6C85-FE9D-A43B-1DCF08E09D98}"/>
              </a:ext>
            </a:extLst>
          </p:cNvPr>
          <p:cNvSpPr/>
          <p:nvPr/>
        </p:nvSpPr>
        <p:spPr>
          <a:xfrm>
            <a:off x="613756" y="5117645"/>
            <a:ext cx="5776653" cy="48017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3567E643-93DE-4AA8-7849-49C00DE407F2}"/>
              </a:ext>
            </a:extLst>
          </p:cNvPr>
          <p:cNvSpPr/>
          <p:nvPr/>
        </p:nvSpPr>
        <p:spPr>
          <a:xfrm>
            <a:off x="792588" y="5221824"/>
            <a:ext cx="2849384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CatBoost</a:t>
            </a:r>
            <a:endParaRPr lang="en-US" sz="1400" dirty="0"/>
          </a:p>
        </p:txBody>
      </p:sp>
      <p:sp>
        <p:nvSpPr>
          <p:cNvPr id="31" name="Text 26">
            <a:extLst>
              <a:ext uri="{FF2B5EF4-FFF2-40B4-BE49-F238E27FC236}">
                <a16:creationId xmlns:a16="http://schemas.microsoft.com/office/drawing/2014/main" id="{5359C8C5-1463-7AE3-53D1-A2F3EC271A06}"/>
              </a:ext>
            </a:extLst>
          </p:cNvPr>
          <p:cNvSpPr/>
          <p:nvPr/>
        </p:nvSpPr>
        <p:spPr>
          <a:xfrm>
            <a:off x="4298146" y="5221824"/>
            <a:ext cx="2271664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 Boosting</a:t>
            </a:r>
            <a:endParaRPr lang="en-US" sz="1400" dirty="0"/>
          </a:p>
        </p:txBody>
      </p:sp>
      <p:sp>
        <p:nvSpPr>
          <p:cNvPr id="32" name="Shape 27">
            <a:extLst>
              <a:ext uri="{FF2B5EF4-FFF2-40B4-BE49-F238E27FC236}">
                <a16:creationId xmlns:a16="http://schemas.microsoft.com/office/drawing/2014/main" id="{B2EFE4C8-4155-CDB6-15FF-531082BC435D}"/>
              </a:ext>
            </a:extLst>
          </p:cNvPr>
          <p:cNvSpPr/>
          <p:nvPr/>
        </p:nvSpPr>
        <p:spPr>
          <a:xfrm>
            <a:off x="613756" y="5597824"/>
            <a:ext cx="5776653" cy="48017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A680F54B-13C7-B058-DDFC-CBAB87CB6A11}"/>
              </a:ext>
            </a:extLst>
          </p:cNvPr>
          <p:cNvSpPr/>
          <p:nvPr/>
        </p:nvSpPr>
        <p:spPr>
          <a:xfrm>
            <a:off x="792588" y="5702003"/>
            <a:ext cx="2849384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LightGBM</a:t>
            </a:r>
            <a:endParaRPr lang="en-US" sz="1400" dirty="0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64045395-43C4-7E8C-AE0F-7F6EF71D7E36}"/>
              </a:ext>
            </a:extLst>
          </p:cNvPr>
          <p:cNvSpPr/>
          <p:nvPr/>
        </p:nvSpPr>
        <p:spPr>
          <a:xfrm>
            <a:off x="4298146" y="5702003"/>
            <a:ext cx="2271664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Gradient Boosting</a:t>
            </a:r>
            <a:endParaRPr lang="en-US" sz="1400" dirty="0"/>
          </a:p>
        </p:txBody>
      </p:sp>
      <p:sp>
        <p:nvSpPr>
          <p:cNvPr id="36" name="Text 31">
            <a:extLst>
              <a:ext uri="{FF2B5EF4-FFF2-40B4-BE49-F238E27FC236}">
                <a16:creationId xmlns:a16="http://schemas.microsoft.com/office/drawing/2014/main" id="{F8CAFB35-C081-DF16-0E7C-B8C389C05310}"/>
              </a:ext>
            </a:extLst>
          </p:cNvPr>
          <p:cNvSpPr/>
          <p:nvPr/>
        </p:nvSpPr>
        <p:spPr>
          <a:xfrm>
            <a:off x="751024" y="6182182"/>
            <a:ext cx="2849384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BernoulliNB</a:t>
            </a:r>
            <a:endParaRPr lang="en-US" sz="1400" dirty="0">
              <a:solidFill>
                <a:srgbClr val="3C3939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</p:txBody>
      </p:sp>
      <p:sp>
        <p:nvSpPr>
          <p:cNvPr id="37" name="Text 32">
            <a:extLst>
              <a:ext uri="{FF2B5EF4-FFF2-40B4-BE49-F238E27FC236}">
                <a16:creationId xmlns:a16="http://schemas.microsoft.com/office/drawing/2014/main" id="{4A2821DB-D072-7B07-3D55-C5B6A74E6A01}"/>
              </a:ext>
            </a:extLst>
          </p:cNvPr>
          <p:cNvSpPr/>
          <p:nvPr/>
        </p:nvSpPr>
        <p:spPr>
          <a:xfrm>
            <a:off x="4298146" y="6182182"/>
            <a:ext cx="2271664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/>
              <a:t>Linear Model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E5901F81-CE4A-5EF4-FF96-A41F501DC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924859"/>
            <a:ext cx="10515600" cy="823912"/>
          </a:xfrm>
        </p:spPr>
        <p:txBody>
          <a:bodyPr>
            <a:normAutofit/>
          </a:bodyPr>
          <a:lstStyle/>
          <a:p>
            <a:r>
              <a:rPr lang="en-US" sz="1500" b="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Nine algorithms spanning linear, tree-based, ensemble, and kernel methods were benchmarked against a consistent holdout test set. This broad evaluation ensures the final selection reflects true predictive superiority rather than model bias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312214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3CC64-AB14-3117-E02B-E7B9F26B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8266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rgbClr val="FFA500"/>
                </a:solidFill>
                <a:latin typeface="Aptos" panose="020B0004020202020204" pitchFamily="34" charset="0"/>
                <a:ea typeface="Raleway" pitchFamily="34" charset="-122"/>
                <a:cs typeface="Raleway" pitchFamily="34" charset="-120"/>
              </a:rPr>
              <a:t>Model Benchmark Results</a:t>
            </a:r>
            <a:endParaRPr lang="en-US" sz="3000" dirty="0">
              <a:solidFill>
                <a:srgbClr val="FFA500"/>
              </a:solidFill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AC9F9-0D6D-9524-6F8A-B83E2CF79D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1718" y="1153392"/>
            <a:ext cx="10882746" cy="6162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nine models were evaluated on a held-out test set. Results show strong consistency across advanced ensemble methods, with </a:t>
            </a:r>
            <a:r>
              <a:rPr lang="en-US" sz="15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CatBoost</a:t>
            </a: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emerging as the top performer across key metrics.</a:t>
            </a:r>
            <a:endParaRPr lang="en-US" sz="15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DF6199-F1A9-0AE1-6AE8-685F3EB6A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142945"/>
            <a:ext cx="9802091" cy="3904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864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DC45-8DD3-6CF5-A921-844D2C7CB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000" dirty="0">
                <a:solidFill>
                  <a:srgbClr val="FFA500"/>
                </a:solidFill>
                <a:latin typeface="Aptos" panose="020B0004020202020204" pitchFamily="34" charset="0"/>
                <a:ea typeface="Raleway" pitchFamily="34" charset="-122"/>
                <a:cs typeface="Raleway" pitchFamily="34" charset="-120"/>
              </a:rPr>
              <a:t>Selected Model: </a:t>
            </a:r>
            <a:r>
              <a:rPr lang="en-US" sz="3000" dirty="0" err="1">
                <a:solidFill>
                  <a:srgbClr val="FFA500"/>
                </a:solidFill>
                <a:latin typeface="Aptos" panose="020B0004020202020204" pitchFamily="34" charset="0"/>
                <a:ea typeface="Raleway" pitchFamily="34" charset="-122"/>
                <a:cs typeface="Raleway" pitchFamily="34" charset="-120"/>
              </a:rPr>
              <a:t>LightGBM</a:t>
            </a:r>
            <a:endParaRPr lang="en-US" sz="3000" dirty="0">
              <a:solidFill>
                <a:srgbClr val="FFA500"/>
              </a:solidFill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09088-FED9-0B18-7E53-DCA6807E8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9599"/>
            <a:ext cx="10861964" cy="9799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After comprehensive benchmarking, </a:t>
            </a:r>
            <a:r>
              <a:rPr lang="en-US" sz="2000" b="1" dirty="0" err="1">
                <a:latin typeface="Aptos" panose="020B0004020202020204" pitchFamily="34" charset="0"/>
                <a:ea typeface="Raleway" pitchFamily="34" charset="-122"/>
                <a:cs typeface="Raleway" pitchFamily="34" charset="-120"/>
              </a:rPr>
              <a:t>LightGBM</a:t>
            </a:r>
            <a:r>
              <a:rPr lang="en-US" sz="2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was selected as the final production model. It achieved the highest predictive performance while demonstrating strong generalization and minimal overfitting — critical requirements for reliable deployment.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1044F30-ED26-B11D-1A4A-409606A2D678}"/>
              </a:ext>
            </a:extLst>
          </p:cNvPr>
          <p:cNvSpPr/>
          <p:nvPr/>
        </p:nvSpPr>
        <p:spPr>
          <a:xfrm>
            <a:off x="838200" y="2566100"/>
            <a:ext cx="4668982" cy="3543755"/>
          </a:xfrm>
          <a:prstGeom prst="roundRect">
            <a:avLst>
              <a:gd name="adj" fmla="val 3736"/>
            </a:avLst>
          </a:prstGeom>
          <a:ln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Performance Summary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Metric 			Value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		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Train AUC			0.733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Test AUC			0.704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	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Train Accuracy		0.679</a:t>
            </a:r>
          </a:p>
          <a:p>
            <a:endParaRPr lang="en-US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Test Accuracy		0.664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948206-14B3-7CF1-9E69-7DEB40509801}"/>
              </a:ext>
            </a:extLst>
          </p:cNvPr>
          <p:cNvSpPr txBox="1"/>
          <p:nvPr/>
        </p:nvSpPr>
        <p:spPr>
          <a:xfrm>
            <a:off x="6428510" y="2725161"/>
            <a:ext cx="32973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Aptos" panose="020B0004020202020204" pitchFamily="34" charset="0"/>
              </a:rPr>
              <a:t>Why </a:t>
            </a:r>
            <a:r>
              <a:rPr lang="en-US" sz="2400" b="1" dirty="0" err="1">
                <a:latin typeface="Aptos" panose="020B0004020202020204" pitchFamily="34" charset="0"/>
                <a:ea typeface="Raleway" pitchFamily="34" charset="-122"/>
                <a:cs typeface="Raleway" pitchFamily="34" charset="-120"/>
              </a:rPr>
              <a:t>LightGBM</a:t>
            </a:r>
            <a:r>
              <a:rPr lang="en-US" sz="2200" dirty="0">
                <a:latin typeface="Aptos" panose="020B0004020202020204" pitchFamily="34" charset="0"/>
              </a:rPr>
              <a:t>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B874F2-CD46-6F1F-DD00-88EA37C3571E}"/>
              </a:ext>
            </a:extLst>
          </p:cNvPr>
          <p:cNvSpPr txBox="1"/>
          <p:nvPr/>
        </p:nvSpPr>
        <p:spPr>
          <a:xfrm>
            <a:off x="6577446" y="3293918"/>
            <a:ext cx="4374573" cy="1996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ts val="25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Highest AUC</a:t>
            </a:r>
            <a:r>
              <a:rPr lang="en-US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among all benchmarked models</a:t>
            </a:r>
            <a:endParaRPr lang="en-US" dirty="0"/>
          </a:p>
          <a:p>
            <a:pPr marL="285750" indent="-285750">
              <a:lnSpc>
                <a:spcPts val="25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Minimal overfitting</a:t>
            </a:r>
            <a:r>
              <a:rPr lang="en-US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near-zero gap between train and test performance</a:t>
            </a:r>
          </a:p>
          <a:p>
            <a:pPr marL="285750" indent="-285750">
              <a:lnSpc>
                <a:spcPts val="25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b="1" dirty="0"/>
              <a:t>Handles Large Data Easily</a:t>
            </a:r>
          </a:p>
          <a:p>
            <a:pPr marL="285750" indent="-285750">
              <a:lnSpc>
                <a:spcPts val="25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b="1" dirty="0"/>
              <a:t>Lower Memory Usage</a:t>
            </a:r>
          </a:p>
        </p:txBody>
      </p:sp>
    </p:spTree>
    <p:extLst>
      <p:ext uri="{BB962C8B-B14F-4D97-AF65-F5344CB8AC3E}">
        <p14:creationId xmlns:p14="http://schemas.microsoft.com/office/powerpoint/2010/main" val="3813653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47067-751D-0173-E229-8F37E6E0D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4823"/>
            <a:ext cx="10515600" cy="892428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rgbClr val="FFA500"/>
                </a:solidFill>
                <a:latin typeface="Aptos" panose="020B0004020202020204" pitchFamily="34" charset="0"/>
                <a:ea typeface="Raleway" pitchFamily="34" charset="-122"/>
                <a:cs typeface="Raleway" pitchFamily="34" charset="-120"/>
              </a:rPr>
              <a:t>Top Drivers of Customer Churn</a:t>
            </a:r>
            <a:endParaRPr lang="en-US" sz="3000" dirty="0">
              <a:solidFill>
                <a:srgbClr val="FFA50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B01951-2B36-4354-DB07-3EF5C032B860}"/>
              </a:ext>
            </a:extLst>
          </p:cNvPr>
          <p:cNvSpPr txBox="1"/>
          <p:nvPr/>
        </p:nvSpPr>
        <p:spPr>
          <a:xfrm>
            <a:off x="955965" y="1127251"/>
            <a:ext cx="107649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SHAP (</a:t>
            </a:r>
            <a:r>
              <a:rPr lang="en-US" sz="15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SHapley</a:t>
            </a: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Additive </a:t>
            </a:r>
            <a:r>
              <a:rPr lang="en-US" sz="1500" dirty="0" err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exPlanations</a:t>
            </a: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 analysis quantifies the contribution of each feature to individual churn predictions — translating the model's decisions into interpretable business insights without sacrificing predictive accuracy.</a:t>
            </a:r>
            <a:endParaRPr lang="en-US" sz="1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7D8928-6090-356F-B4F2-22C252D9CD21}"/>
              </a:ext>
            </a:extLst>
          </p:cNvPr>
          <p:cNvSpPr txBox="1"/>
          <p:nvPr/>
        </p:nvSpPr>
        <p:spPr>
          <a:xfrm>
            <a:off x="1316182" y="1829307"/>
            <a:ext cx="4946072" cy="3636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200"/>
              </a:lnSpc>
            </a:pPr>
            <a:r>
              <a:rPr lang="en-US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SHAP Global Feature Importance</a:t>
            </a:r>
            <a:endParaRPr lang="en-US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B712AF9-8540-2D1D-CF0A-F535D338E715}"/>
              </a:ext>
            </a:extLst>
          </p:cNvPr>
          <p:cNvSpPr/>
          <p:nvPr/>
        </p:nvSpPr>
        <p:spPr>
          <a:xfrm>
            <a:off x="5345148" y="2087345"/>
            <a:ext cx="6375797" cy="4385072"/>
          </a:xfrm>
          <a:prstGeom prst="roundRect">
            <a:avLst>
              <a:gd name="adj" fmla="val 172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AF3E0F2-3E65-73FD-D0DF-55D7667D5DBB}"/>
              </a:ext>
            </a:extLst>
          </p:cNvPr>
          <p:cNvSpPr/>
          <p:nvPr/>
        </p:nvSpPr>
        <p:spPr>
          <a:xfrm>
            <a:off x="5352768" y="2094965"/>
            <a:ext cx="6360557" cy="48553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6941DF7-0DA7-659F-6170-B409DA3B4CBE}"/>
              </a:ext>
            </a:extLst>
          </p:cNvPr>
          <p:cNvSpPr/>
          <p:nvPr/>
        </p:nvSpPr>
        <p:spPr>
          <a:xfrm>
            <a:off x="5532791" y="2200455"/>
            <a:ext cx="908447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Rank</a:t>
            </a:r>
            <a:endParaRPr lang="en-US" sz="1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9757CCA-A686-2856-D39F-F3332D9F443D}"/>
              </a:ext>
            </a:extLst>
          </p:cNvPr>
          <p:cNvSpPr/>
          <p:nvPr/>
        </p:nvSpPr>
        <p:spPr>
          <a:xfrm>
            <a:off x="6808665" y="2200455"/>
            <a:ext cx="4724757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Driver</a:t>
            </a:r>
            <a:endParaRPr lang="en-US" sz="14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F279C40-7DA7-4AF0-0098-310C02CF460F}"/>
              </a:ext>
            </a:extLst>
          </p:cNvPr>
          <p:cNvSpPr/>
          <p:nvPr/>
        </p:nvSpPr>
        <p:spPr>
          <a:xfrm>
            <a:off x="5352768" y="2580502"/>
            <a:ext cx="6360557" cy="48553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3A1644D1-1A83-D78D-7B2E-94BC9FB829F7}"/>
              </a:ext>
            </a:extLst>
          </p:cNvPr>
          <p:cNvSpPr/>
          <p:nvPr/>
        </p:nvSpPr>
        <p:spPr>
          <a:xfrm>
            <a:off x="5532791" y="2685992"/>
            <a:ext cx="908447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5D27931-60C1-A7D9-962B-8632D9124398}"/>
              </a:ext>
            </a:extLst>
          </p:cNvPr>
          <p:cNvSpPr/>
          <p:nvPr/>
        </p:nvSpPr>
        <p:spPr>
          <a:xfrm>
            <a:off x="6808665" y="2685992"/>
            <a:ext cx="4724757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Days Since Last Order</a:t>
            </a:r>
            <a:endParaRPr lang="en-US" sz="14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4466A98-1614-CB13-8C86-4A245FA58D0B}"/>
              </a:ext>
            </a:extLst>
          </p:cNvPr>
          <p:cNvSpPr/>
          <p:nvPr/>
        </p:nvSpPr>
        <p:spPr>
          <a:xfrm>
            <a:off x="5352768" y="3066039"/>
            <a:ext cx="6360557" cy="48553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D4906518-A9D8-23CD-5533-8E759D9239DC}"/>
              </a:ext>
            </a:extLst>
          </p:cNvPr>
          <p:cNvSpPr/>
          <p:nvPr/>
        </p:nvSpPr>
        <p:spPr>
          <a:xfrm>
            <a:off x="5532791" y="3171528"/>
            <a:ext cx="908447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C9E5672-DE04-3161-73DB-E6D7DFAAB1DB}"/>
              </a:ext>
            </a:extLst>
          </p:cNvPr>
          <p:cNvSpPr/>
          <p:nvPr/>
        </p:nvSpPr>
        <p:spPr>
          <a:xfrm>
            <a:off x="6808665" y="3171528"/>
            <a:ext cx="4724757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Satisfaction (CSAT)</a:t>
            </a:r>
            <a:endParaRPr lang="en-US" sz="14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E8462393-5EC2-EEBF-9272-D70846C89104}"/>
              </a:ext>
            </a:extLst>
          </p:cNvPr>
          <p:cNvSpPr/>
          <p:nvPr/>
        </p:nvSpPr>
        <p:spPr>
          <a:xfrm>
            <a:off x="5352768" y="3551576"/>
            <a:ext cx="6360557" cy="48553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151000F-C622-4D09-FF05-673757C5FDEF}"/>
              </a:ext>
            </a:extLst>
          </p:cNvPr>
          <p:cNvSpPr/>
          <p:nvPr/>
        </p:nvSpPr>
        <p:spPr>
          <a:xfrm>
            <a:off x="5532791" y="3657065"/>
            <a:ext cx="908447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AF633D5-401D-E475-C11A-15D78FE4175D}"/>
              </a:ext>
            </a:extLst>
          </p:cNvPr>
          <p:cNvSpPr/>
          <p:nvPr/>
        </p:nvSpPr>
        <p:spPr>
          <a:xfrm>
            <a:off x="6808665" y="3657065"/>
            <a:ext cx="4724757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 Returns</a:t>
            </a:r>
            <a:endParaRPr lang="en-US" sz="14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66B68D0-FB04-1C62-1DC4-BC3DE4A67564}"/>
              </a:ext>
            </a:extLst>
          </p:cNvPr>
          <p:cNvSpPr/>
          <p:nvPr/>
        </p:nvSpPr>
        <p:spPr>
          <a:xfrm>
            <a:off x="5352768" y="4037113"/>
            <a:ext cx="6360557" cy="48553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ED1A40F-0C76-D076-5A01-D3BCA3492D8C}"/>
              </a:ext>
            </a:extLst>
          </p:cNvPr>
          <p:cNvSpPr/>
          <p:nvPr/>
        </p:nvSpPr>
        <p:spPr>
          <a:xfrm>
            <a:off x="5532791" y="4142602"/>
            <a:ext cx="908447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14A9965-6710-D553-E694-547A4F634424}"/>
              </a:ext>
            </a:extLst>
          </p:cNvPr>
          <p:cNvSpPr/>
          <p:nvPr/>
        </p:nvSpPr>
        <p:spPr>
          <a:xfrm>
            <a:off x="6808665" y="4142602"/>
            <a:ext cx="4724757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 Tickets Filed</a:t>
            </a:r>
            <a:endParaRPr lang="en-US" sz="14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0CFA65A-FF3E-DAE2-0BFD-0B4C23947357}"/>
              </a:ext>
            </a:extLst>
          </p:cNvPr>
          <p:cNvSpPr/>
          <p:nvPr/>
        </p:nvSpPr>
        <p:spPr>
          <a:xfrm>
            <a:off x="5352768" y="4522650"/>
            <a:ext cx="6360557" cy="48553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84805502-13B4-A98A-47B3-7CDBE5F33811}"/>
              </a:ext>
            </a:extLst>
          </p:cNvPr>
          <p:cNvSpPr/>
          <p:nvPr/>
        </p:nvSpPr>
        <p:spPr>
          <a:xfrm>
            <a:off x="5532791" y="4628139"/>
            <a:ext cx="908447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BF12E52C-546D-940A-5561-24F9C0604D19}"/>
              </a:ext>
            </a:extLst>
          </p:cNvPr>
          <p:cNvSpPr/>
          <p:nvPr/>
        </p:nvSpPr>
        <p:spPr>
          <a:xfrm>
            <a:off x="6808665" y="4628139"/>
            <a:ext cx="4724757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Recent Spend</a:t>
            </a:r>
            <a:endParaRPr lang="en-US" sz="14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07412C82-8997-28E7-EA92-A18E5EA6A1A3}"/>
              </a:ext>
            </a:extLst>
          </p:cNvPr>
          <p:cNvSpPr/>
          <p:nvPr/>
        </p:nvSpPr>
        <p:spPr>
          <a:xfrm>
            <a:off x="5352768" y="5008187"/>
            <a:ext cx="6360557" cy="48553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022B2B2-187D-5F57-82A0-AA30531B74BA}"/>
              </a:ext>
            </a:extLst>
          </p:cNvPr>
          <p:cNvSpPr/>
          <p:nvPr/>
        </p:nvSpPr>
        <p:spPr>
          <a:xfrm>
            <a:off x="5532791" y="5113676"/>
            <a:ext cx="908447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AA0EE465-10D6-7D90-C558-7687DC06ACDC}"/>
              </a:ext>
            </a:extLst>
          </p:cNvPr>
          <p:cNvSpPr/>
          <p:nvPr/>
        </p:nvSpPr>
        <p:spPr>
          <a:xfrm>
            <a:off x="6808665" y="5113676"/>
            <a:ext cx="4724757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Loyalty Membership (Prime)</a:t>
            </a:r>
            <a:endParaRPr lang="en-US" sz="14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69A55F81-FAA4-9A7E-C22A-6B57ECDA0B0A}"/>
              </a:ext>
            </a:extLst>
          </p:cNvPr>
          <p:cNvSpPr/>
          <p:nvPr/>
        </p:nvSpPr>
        <p:spPr>
          <a:xfrm>
            <a:off x="5352768" y="5493723"/>
            <a:ext cx="6360557" cy="48553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A29BADD1-1EC8-8D43-26C9-D655F48F62D0}"/>
              </a:ext>
            </a:extLst>
          </p:cNvPr>
          <p:cNvSpPr/>
          <p:nvPr/>
        </p:nvSpPr>
        <p:spPr>
          <a:xfrm>
            <a:off x="5532791" y="5599213"/>
            <a:ext cx="908447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B6A0C695-6F02-C863-0050-8D9732B48AFF}"/>
              </a:ext>
            </a:extLst>
          </p:cNvPr>
          <p:cNvSpPr/>
          <p:nvPr/>
        </p:nvSpPr>
        <p:spPr>
          <a:xfrm>
            <a:off x="6808665" y="5599213"/>
            <a:ext cx="4724757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Recent Orders</a:t>
            </a:r>
            <a:endParaRPr lang="en-US" sz="140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BA8C10C5-5A6B-2941-BD21-D74F983A47BF}"/>
              </a:ext>
            </a:extLst>
          </p:cNvPr>
          <p:cNvSpPr/>
          <p:nvPr/>
        </p:nvSpPr>
        <p:spPr>
          <a:xfrm>
            <a:off x="5352768" y="5979260"/>
            <a:ext cx="6360557" cy="48553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EABB7FFC-7139-7413-E208-F107DB406AE7}"/>
              </a:ext>
            </a:extLst>
          </p:cNvPr>
          <p:cNvSpPr/>
          <p:nvPr/>
        </p:nvSpPr>
        <p:spPr>
          <a:xfrm>
            <a:off x="5532791" y="6084750"/>
            <a:ext cx="908447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362056FE-32C0-B483-8172-BA3FCB1EABA8}"/>
              </a:ext>
            </a:extLst>
          </p:cNvPr>
          <p:cNvSpPr/>
          <p:nvPr/>
        </p:nvSpPr>
        <p:spPr>
          <a:xfrm>
            <a:off x="6808665" y="6084750"/>
            <a:ext cx="4724757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Sessions</a:t>
            </a:r>
            <a:endParaRPr lang="en-US" sz="1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E80D6F-0AF3-B0E4-9A6B-A6D0A78EB403}"/>
              </a:ext>
            </a:extLst>
          </p:cNvPr>
          <p:cNvSpPr txBox="1"/>
          <p:nvPr/>
        </p:nvSpPr>
        <p:spPr>
          <a:xfrm>
            <a:off x="5352768" y="1784049"/>
            <a:ext cx="5004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Ranked Churn Drivers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548F226-5D01-F1C9-A3EF-5D8B7FED5F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965" y="2383995"/>
            <a:ext cx="3844635" cy="4183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9268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486FF-35A3-9A81-3489-18349A9AC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rgbClr val="FFA500"/>
                </a:solidFill>
                <a:latin typeface="Aptos" panose="020B0004020202020204" pitchFamily="34" charset="0"/>
                <a:ea typeface="Raleway" pitchFamily="34" charset="-122"/>
                <a:cs typeface="Raleway" pitchFamily="34" charset="-120"/>
              </a:rPr>
              <a:t>Customer Behavior Patterns Leading to Churn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44DD9-0C7E-1061-3425-AC24EA57FB00}"/>
              </a:ext>
            </a:extLst>
          </p:cNvPr>
          <p:cNvSpPr txBox="1"/>
          <p:nvPr/>
        </p:nvSpPr>
        <p:spPr>
          <a:xfrm>
            <a:off x="838200" y="1143000"/>
            <a:ext cx="106506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3C3939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The SHAP </a:t>
            </a:r>
            <a:r>
              <a:rPr lang="en-US" sz="1600" dirty="0" err="1">
                <a:solidFill>
                  <a:srgbClr val="3C3939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beeswarm</a:t>
            </a:r>
            <a:r>
              <a:rPr lang="en-US" sz="1600" dirty="0">
                <a:solidFill>
                  <a:srgbClr val="3C3939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 plot below illustrates the directional impact of each feature across all customers — revealing not just </a:t>
            </a:r>
            <a:r>
              <a:rPr lang="en-US" sz="1600" i="1" dirty="0">
                <a:solidFill>
                  <a:srgbClr val="3C3939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what</a:t>
            </a:r>
            <a:r>
              <a:rPr lang="en-US" sz="1600" dirty="0">
                <a:solidFill>
                  <a:srgbClr val="3C3939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 drives churn, but </a:t>
            </a:r>
            <a:r>
              <a:rPr lang="en-US" sz="1600" i="1" dirty="0">
                <a:solidFill>
                  <a:srgbClr val="3C3939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how</a:t>
            </a:r>
            <a:r>
              <a:rPr lang="en-US" sz="1600" dirty="0">
                <a:solidFill>
                  <a:srgbClr val="3C3939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 and at what thresholds behavioral signals become most predictive.</a:t>
            </a:r>
            <a:endParaRPr lang="en-US" sz="1600" dirty="0">
              <a:latin typeface="Aptos" panose="020B00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A3473E2-2FCC-6F69-FF05-DC3CEA0079EC}"/>
              </a:ext>
            </a:extLst>
          </p:cNvPr>
          <p:cNvGrpSpPr/>
          <p:nvPr/>
        </p:nvGrpSpPr>
        <p:grpSpPr>
          <a:xfrm>
            <a:off x="5671705" y="2028327"/>
            <a:ext cx="5682095" cy="4249312"/>
            <a:chOff x="7391519" y="-303848"/>
            <a:chExt cx="6445091" cy="7812882"/>
          </a:xfrm>
        </p:grpSpPr>
        <p:sp>
          <p:nvSpPr>
            <p:cNvPr id="8" name="Shape 4">
              <a:extLst>
                <a:ext uri="{FF2B5EF4-FFF2-40B4-BE49-F238E27FC236}">
                  <a16:creationId xmlns:a16="http://schemas.microsoft.com/office/drawing/2014/main" id="{A421510D-7CE9-D264-3A13-8A51EF7D740E}"/>
                </a:ext>
              </a:extLst>
            </p:cNvPr>
            <p:cNvSpPr/>
            <p:nvPr/>
          </p:nvSpPr>
          <p:spPr>
            <a:xfrm>
              <a:off x="7414379" y="1639490"/>
              <a:ext cx="6422231" cy="1824276"/>
            </a:xfrm>
            <a:prstGeom prst="roundRect">
              <a:avLst>
                <a:gd name="adj" fmla="val 6015"/>
              </a:avLst>
            </a:prstGeom>
            <a:solidFill>
              <a:srgbClr val="FFFFFF">
                <a:alpha val="95000"/>
              </a:srgbClr>
            </a:solidFill>
            <a:ln w="22860">
              <a:solidFill>
                <a:srgbClr val="C7C7D0"/>
              </a:solidFill>
              <a:prstDash val="solid"/>
            </a:ln>
          </p:spPr>
        </p:sp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7350B412-7B14-E8A5-76D7-EBA2EC4C9ECC}"/>
                </a:ext>
              </a:extLst>
            </p:cNvPr>
            <p:cNvSpPr/>
            <p:nvPr/>
          </p:nvSpPr>
          <p:spPr>
            <a:xfrm>
              <a:off x="7391519" y="1639490"/>
              <a:ext cx="91440" cy="1824275"/>
            </a:xfrm>
            <a:prstGeom prst="roundRect">
              <a:avLst>
                <a:gd name="adj" fmla="val 91163"/>
              </a:avLst>
            </a:prstGeom>
            <a:solidFill>
              <a:srgbClr val="1B1B27"/>
            </a:solidFill>
            <a:ln/>
          </p:spPr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C7268D12-ED3E-88B0-7F0B-C4C1426DA24B}"/>
                </a:ext>
              </a:extLst>
            </p:cNvPr>
            <p:cNvSpPr/>
            <p:nvPr/>
          </p:nvSpPr>
          <p:spPr>
            <a:xfrm>
              <a:off x="7704177" y="1860709"/>
              <a:ext cx="3631406" cy="3101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1400" dirty="0">
                  <a:solidFill>
                    <a:srgbClr val="3C3939"/>
                  </a:solidFill>
                  <a:latin typeface="Aptos" panose="020B0004020202020204" pitchFamily="34" charset="0"/>
                  <a:ea typeface="Raleway" pitchFamily="34" charset="-122"/>
                  <a:cs typeface="Raleway" pitchFamily="34" charset="-120"/>
                </a:rPr>
                <a:t>Inactivity Is the Strongest Signal</a:t>
              </a:r>
              <a:endParaRPr lang="en-US" sz="1400" dirty="0">
                <a:latin typeface="Aptos" panose="020B0004020202020204" pitchFamily="34" charset="0"/>
              </a:endParaRPr>
            </a:p>
          </p:txBody>
        </p:sp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C2710700-6692-129A-E294-E1A102D53495}"/>
                </a:ext>
              </a:extLst>
            </p:cNvPr>
            <p:cNvSpPr/>
            <p:nvPr/>
          </p:nvSpPr>
          <p:spPr>
            <a:xfrm>
              <a:off x="7704177" y="2289928"/>
              <a:ext cx="5911215" cy="9526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1100" dirty="0">
                  <a:solidFill>
                    <a:srgbClr val="3C3939"/>
                  </a:solidFill>
                  <a:latin typeface="Aptos" panose="020B0004020202020204" pitchFamily="34" charset="0"/>
                  <a:ea typeface="Roboto" pitchFamily="34" charset="-122"/>
                  <a:cs typeface="Roboto" pitchFamily="34" charset="-120"/>
                </a:rPr>
                <a:t>Customers who remain inactive for extended periods are significantly more likely to churn — recency is the single most predictive behavioral variable.</a:t>
              </a:r>
              <a:endParaRPr lang="en-US" sz="1100" dirty="0">
                <a:latin typeface="Aptos" panose="020B0004020202020204" pitchFamily="34" charset="0"/>
              </a:endParaRPr>
            </a:p>
          </p:txBody>
        </p:sp>
        <p:sp>
          <p:nvSpPr>
            <p:cNvPr id="12" name="Shape 8">
              <a:extLst>
                <a:ext uri="{FF2B5EF4-FFF2-40B4-BE49-F238E27FC236}">
                  <a16:creationId xmlns:a16="http://schemas.microsoft.com/office/drawing/2014/main" id="{D6F6CD5A-9DD7-F720-6371-4804A14EF03E}"/>
                </a:ext>
              </a:extLst>
            </p:cNvPr>
            <p:cNvSpPr/>
            <p:nvPr/>
          </p:nvSpPr>
          <p:spPr>
            <a:xfrm>
              <a:off x="7414379" y="3662124"/>
              <a:ext cx="6422231" cy="1824276"/>
            </a:xfrm>
            <a:prstGeom prst="roundRect">
              <a:avLst>
                <a:gd name="adj" fmla="val 6015"/>
              </a:avLst>
            </a:prstGeom>
            <a:solidFill>
              <a:srgbClr val="FFFFFF">
                <a:alpha val="95000"/>
              </a:srgbClr>
            </a:solidFill>
            <a:ln w="22860">
              <a:solidFill>
                <a:srgbClr val="C7C7D0"/>
              </a:solidFill>
              <a:prstDash val="solid"/>
            </a:ln>
          </p:spPr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7964F89A-B19C-FFBC-123A-ED17AED9F105}"/>
                </a:ext>
              </a:extLst>
            </p:cNvPr>
            <p:cNvSpPr/>
            <p:nvPr/>
          </p:nvSpPr>
          <p:spPr>
            <a:xfrm>
              <a:off x="7391519" y="3662124"/>
              <a:ext cx="91440" cy="1824276"/>
            </a:xfrm>
            <a:prstGeom prst="roundRect">
              <a:avLst>
                <a:gd name="adj" fmla="val 91163"/>
              </a:avLst>
            </a:prstGeom>
            <a:solidFill>
              <a:srgbClr val="1B1B27"/>
            </a:solidFill>
            <a:ln/>
          </p:spPr>
        </p:sp>
        <p:sp>
          <p:nvSpPr>
            <p:cNvPr id="14" name="Text 10">
              <a:extLst>
                <a:ext uri="{FF2B5EF4-FFF2-40B4-BE49-F238E27FC236}">
                  <a16:creationId xmlns:a16="http://schemas.microsoft.com/office/drawing/2014/main" id="{7896D4E3-693F-2871-6B59-F3B5BBAE3BDA}"/>
                </a:ext>
              </a:extLst>
            </p:cNvPr>
            <p:cNvSpPr/>
            <p:nvPr/>
          </p:nvSpPr>
          <p:spPr>
            <a:xfrm>
              <a:off x="7704177" y="3883343"/>
              <a:ext cx="3263027" cy="3101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1400" dirty="0">
                  <a:solidFill>
                    <a:srgbClr val="3C3939"/>
                  </a:solidFill>
                  <a:latin typeface="Aptos" panose="020B0004020202020204" pitchFamily="34" charset="0"/>
                  <a:ea typeface="Raleway" pitchFamily="34" charset="-122"/>
                  <a:cs typeface="Raleway" pitchFamily="34" charset="-120"/>
                </a:rPr>
                <a:t>Satisfaction Drives Retention</a:t>
              </a:r>
              <a:endParaRPr lang="en-US" sz="1400" dirty="0">
                <a:latin typeface="Aptos" panose="020B0004020202020204" pitchFamily="34" charset="0"/>
              </a:endParaRPr>
            </a:p>
          </p:txBody>
        </p:sp>
        <p:sp>
          <p:nvSpPr>
            <p:cNvPr id="15" name="Text 11">
              <a:extLst>
                <a:ext uri="{FF2B5EF4-FFF2-40B4-BE49-F238E27FC236}">
                  <a16:creationId xmlns:a16="http://schemas.microsoft.com/office/drawing/2014/main" id="{2E326846-56CE-F7CC-C2C7-95CBB7EE6AE9}"/>
                </a:ext>
              </a:extLst>
            </p:cNvPr>
            <p:cNvSpPr/>
            <p:nvPr/>
          </p:nvSpPr>
          <p:spPr>
            <a:xfrm>
              <a:off x="7704177" y="4312563"/>
              <a:ext cx="5911215" cy="6350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1100" dirty="0">
                  <a:solidFill>
                    <a:srgbClr val="3C3939"/>
                  </a:solidFill>
                  <a:latin typeface="Aptos" panose="020B0004020202020204" pitchFamily="34" charset="0"/>
                  <a:ea typeface="Roboto" pitchFamily="34" charset="-122"/>
                  <a:cs typeface="Roboto" pitchFamily="34" charset="-120"/>
                </a:rPr>
                <a:t>Lower CSAT scores substantially increase churn risk. Dissatisfied customers are far less likely to return without direct intervention.</a:t>
              </a:r>
              <a:endParaRPr lang="en-US" sz="1100" dirty="0">
                <a:latin typeface="Aptos" panose="020B0004020202020204" pitchFamily="34" charset="0"/>
              </a:endParaRPr>
            </a:p>
          </p:txBody>
        </p:sp>
        <p:sp>
          <p:nvSpPr>
            <p:cNvPr id="16" name="Shape 12">
              <a:extLst>
                <a:ext uri="{FF2B5EF4-FFF2-40B4-BE49-F238E27FC236}">
                  <a16:creationId xmlns:a16="http://schemas.microsoft.com/office/drawing/2014/main" id="{E53F4555-32DA-7B67-9468-000155502A5D}"/>
                </a:ext>
              </a:extLst>
            </p:cNvPr>
            <p:cNvSpPr/>
            <p:nvPr/>
          </p:nvSpPr>
          <p:spPr>
            <a:xfrm>
              <a:off x="7414379" y="-303848"/>
              <a:ext cx="6422231" cy="1824275"/>
            </a:xfrm>
            <a:prstGeom prst="roundRect">
              <a:avLst>
                <a:gd name="adj" fmla="val 6015"/>
              </a:avLst>
            </a:prstGeom>
            <a:solidFill>
              <a:srgbClr val="FFFFFF">
                <a:alpha val="95000"/>
              </a:srgbClr>
            </a:solidFill>
            <a:ln w="22860">
              <a:solidFill>
                <a:srgbClr val="C7C7D0"/>
              </a:solidFill>
              <a:prstDash val="solid"/>
            </a:ln>
          </p:spPr>
        </p:sp>
        <p:sp>
          <p:nvSpPr>
            <p:cNvPr id="17" name="Shape 13">
              <a:extLst>
                <a:ext uri="{FF2B5EF4-FFF2-40B4-BE49-F238E27FC236}">
                  <a16:creationId xmlns:a16="http://schemas.microsoft.com/office/drawing/2014/main" id="{7BBB8BEC-3394-4B46-A397-487BE0CFDF10}"/>
                </a:ext>
              </a:extLst>
            </p:cNvPr>
            <p:cNvSpPr/>
            <p:nvPr/>
          </p:nvSpPr>
          <p:spPr>
            <a:xfrm>
              <a:off x="7391519" y="-303848"/>
              <a:ext cx="91440" cy="1824275"/>
            </a:xfrm>
            <a:prstGeom prst="roundRect">
              <a:avLst>
                <a:gd name="adj" fmla="val 91163"/>
              </a:avLst>
            </a:prstGeom>
            <a:solidFill>
              <a:srgbClr val="1B1B27"/>
            </a:solidFill>
            <a:ln/>
          </p:spPr>
        </p:sp>
        <p:sp>
          <p:nvSpPr>
            <p:cNvPr id="18" name="Text 14">
              <a:extLst>
                <a:ext uri="{FF2B5EF4-FFF2-40B4-BE49-F238E27FC236}">
                  <a16:creationId xmlns:a16="http://schemas.microsoft.com/office/drawing/2014/main" id="{41C62AE6-E392-FEA5-D3F1-F534AD2D35B9}"/>
                </a:ext>
              </a:extLst>
            </p:cNvPr>
            <p:cNvSpPr/>
            <p:nvPr/>
          </p:nvSpPr>
          <p:spPr>
            <a:xfrm>
              <a:off x="7704177" y="-82631"/>
              <a:ext cx="3918347" cy="3101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1400" dirty="0">
                  <a:solidFill>
                    <a:srgbClr val="3C3939"/>
                  </a:solidFill>
                  <a:latin typeface="Aptos" panose="020B0004020202020204" pitchFamily="34" charset="0"/>
                  <a:ea typeface="Raleway" pitchFamily="34" charset="-122"/>
                  <a:cs typeface="Raleway" pitchFamily="34" charset="-120"/>
                </a:rPr>
                <a:t>Returns and Tickets Signal Friction</a:t>
              </a:r>
              <a:endParaRPr lang="en-US" sz="1400" dirty="0">
                <a:latin typeface="Aptos" panose="020B0004020202020204" pitchFamily="34" charset="0"/>
              </a:endParaRPr>
            </a:p>
          </p:txBody>
        </p:sp>
        <p:sp>
          <p:nvSpPr>
            <p:cNvPr id="19" name="Text 15">
              <a:extLst>
                <a:ext uri="{FF2B5EF4-FFF2-40B4-BE49-F238E27FC236}">
                  <a16:creationId xmlns:a16="http://schemas.microsoft.com/office/drawing/2014/main" id="{E6F87432-5807-CE7A-79B4-7A6220EDAD68}"/>
                </a:ext>
              </a:extLst>
            </p:cNvPr>
            <p:cNvSpPr/>
            <p:nvPr/>
          </p:nvSpPr>
          <p:spPr>
            <a:xfrm>
              <a:off x="7704177" y="346590"/>
              <a:ext cx="5911215" cy="6350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1100" dirty="0">
                  <a:solidFill>
                    <a:srgbClr val="3C3939"/>
                  </a:solidFill>
                  <a:latin typeface="Aptos" panose="020B0004020202020204" pitchFamily="34" charset="0"/>
                  <a:ea typeface="Roboto" pitchFamily="34" charset="-122"/>
                  <a:cs typeface="Roboto" pitchFamily="34" charset="-120"/>
                </a:rPr>
                <a:t>Higher product return rates and unresolved support tickets are strongly associated with dissatisfaction and upstream churn risk.</a:t>
              </a:r>
              <a:endParaRPr lang="en-US" sz="1100" dirty="0">
                <a:latin typeface="Aptos" panose="020B0004020202020204" pitchFamily="34" charset="0"/>
              </a:endParaRPr>
            </a:p>
          </p:txBody>
        </p:sp>
        <p:sp>
          <p:nvSpPr>
            <p:cNvPr id="20" name="Shape 16">
              <a:extLst>
                <a:ext uri="{FF2B5EF4-FFF2-40B4-BE49-F238E27FC236}">
                  <a16:creationId xmlns:a16="http://schemas.microsoft.com/office/drawing/2014/main" id="{8E4F6BAF-6D28-6D72-E563-55F054C5015C}"/>
                </a:ext>
              </a:extLst>
            </p:cNvPr>
            <p:cNvSpPr/>
            <p:nvPr/>
          </p:nvSpPr>
          <p:spPr>
            <a:xfrm>
              <a:off x="7414379" y="5684758"/>
              <a:ext cx="6422231" cy="1824276"/>
            </a:xfrm>
            <a:prstGeom prst="roundRect">
              <a:avLst>
                <a:gd name="adj" fmla="val 6015"/>
              </a:avLst>
            </a:prstGeom>
            <a:solidFill>
              <a:srgbClr val="FFFFFF">
                <a:alpha val="95000"/>
              </a:srgbClr>
            </a:solidFill>
            <a:ln w="22860">
              <a:solidFill>
                <a:srgbClr val="C7C7D0"/>
              </a:solidFill>
              <a:prstDash val="solid"/>
            </a:ln>
          </p:spPr>
        </p:sp>
        <p:sp>
          <p:nvSpPr>
            <p:cNvPr id="21" name="Shape 17">
              <a:extLst>
                <a:ext uri="{FF2B5EF4-FFF2-40B4-BE49-F238E27FC236}">
                  <a16:creationId xmlns:a16="http://schemas.microsoft.com/office/drawing/2014/main" id="{5527B807-8FC8-973B-F69D-D5ED182117C9}"/>
                </a:ext>
              </a:extLst>
            </p:cNvPr>
            <p:cNvSpPr/>
            <p:nvPr/>
          </p:nvSpPr>
          <p:spPr>
            <a:xfrm>
              <a:off x="7391519" y="5684758"/>
              <a:ext cx="91440" cy="1824276"/>
            </a:xfrm>
            <a:prstGeom prst="roundRect">
              <a:avLst>
                <a:gd name="adj" fmla="val 91163"/>
              </a:avLst>
            </a:prstGeom>
            <a:solidFill>
              <a:srgbClr val="1B1B27"/>
            </a:solidFill>
            <a:ln/>
          </p:spPr>
        </p:sp>
        <p:sp>
          <p:nvSpPr>
            <p:cNvPr id="22" name="Text 18">
              <a:extLst>
                <a:ext uri="{FF2B5EF4-FFF2-40B4-BE49-F238E27FC236}">
                  <a16:creationId xmlns:a16="http://schemas.microsoft.com/office/drawing/2014/main" id="{73E167CF-45E2-8826-4FC2-7FADD3566D8F}"/>
                </a:ext>
              </a:extLst>
            </p:cNvPr>
            <p:cNvSpPr/>
            <p:nvPr/>
          </p:nvSpPr>
          <p:spPr>
            <a:xfrm>
              <a:off x="7704177" y="5905976"/>
              <a:ext cx="3102888" cy="31015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400"/>
                </a:lnSpc>
                <a:buNone/>
              </a:pPr>
              <a:r>
                <a:rPr lang="en-US" sz="1400" dirty="0">
                  <a:solidFill>
                    <a:srgbClr val="3C3939"/>
                  </a:solidFill>
                  <a:latin typeface="Aptos" panose="020B0004020202020204" pitchFamily="34" charset="0"/>
                  <a:ea typeface="Raleway" pitchFamily="34" charset="-122"/>
                  <a:cs typeface="Raleway" pitchFamily="34" charset="-120"/>
                </a:rPr>
                <a:t>Declining Purchase Activity</a:t>
              </a:r>
              <a:endParaRPr lang="en-US" sz="1400" dirty="0">
                <a:latin typeface="Aptos" panose="020B0004020202020204" pitchFamily="34" charset="0"/>
              </a:endParaRPr>
            </a:p>
          </p:txBody>
        </p:sp>
        <p:sp>
          <p:nvSpPr>
            <p:cNvPr id="23" name="Text 19">
              <a:extLst>
                <a:ext uri="{FF2B5EF4-FFF2-40B4-BE49-F238E27FC236}">
                  <a16:creationId xmlns:a16="http://schemas.microsoft.com/office/drawing/2014/main" id="{38AF71CE-8D45-B1B2-9560-F91C5591CA61}"/>
                </a:ext>
              </a:extLst>
            </p:cNvPr>
            <p:cNvSpPr/>
            <p:nvPr/>
          </p:nvSpPr>
          <p:spPr>
            <a:xfrm>
              <a:off x="7704177" y="6335197"/>
              <a:ext cx="5911215" cy="9526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1100" dirty="0">
                  <a:solidFill>
                    <a:srgbClr val="3C3939"/>
                  </a:solidFill>
                  <a:latin typeface="Aptos" panose="020B0004020202020204" pitchFamily="34" charset="0"/>
                  <a:ea typeface="Roboto" pitchFamily="34" charset="-122"/>
                  <a:cs typeface="Roboto" pitchFamily="34" charset="-120"/>
                </a:rPr>
                <a:t>A measurable drop in spending and order frequency consistently precedes customer churn, serving as a leading indicator for intervention.</a:t>
              </a:r>
              <a:endParaRPr lang="en-US" sz="1100" dirty="0">
                <a:latin typeface="Aptos" panose="020B0004020202020204" pitchFamily="34" charset="0"/>
              </a:endParaRPr>
            </a:p>
          </p:txBody>
        </p: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16C2B641-BF4E-AFBA-C839-E8AB609DB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237" y="1957015"/>
            <a:ext cx="4387476" cy="445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281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ABE9D-0DE9-FF02-21E7-902BD5FFC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859834"/>
          </a:xfrm>
        </p:spPr>
        <p:txBody>
          <a:bodyPr>
            <a:normAutofit/>
          </a:bodyPr>
          <a:lstStyle/>
          <a:p>
            <a:r>
              <a:rPr lang="en-US" sz="3000" dirty="0">
                <a:solidFill>
                  <a:srgbClr val="FFA500"/>
                </a:solidFill>
                <a:latin typeface="Aptos" panose="020B0004020202020204" pitchFamily="34" charset="0"/>
                <a:ea typeface="Raleway" pitchFamily="34" charset="-122"/>
                <a:cs typeface="Raleway" pitchFamily="34" charset="-120"/>
              </a:rPr>
              <a:t>Customer Retention Strategy</a:t>
            </a:r>
            <a:endParaRPr lang="en-US" sz="3000" dirty="0">
              <a:solidFill>
                <a:srgbClr val="FFA500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2EB28-BA88-6C40-C7A0-2D4BB757A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1138034"/>
            <a:ext cx="10881157" cy="823912"/>
          </a:xfrm>
        </p:spPr>
        <p:txBody>
          <a:bodyPr>
            <a:normAutofit/>
          </a:bodyPr>
          <a:lstStyle/>
          <a:p>
            <a:r>
              <a:rPr lang="en-US" sz="1500" b="0" dirty="0">
                <a:solidFill>
                  <a:srgbClr val="3C3939"/>
                </a:solidFill>
                <a:latin typeface="Aptos" panose="020B0004020202020204" pitchFamily="34" charset="0"/>
                <a:ea typeface="Roboto" pitchFamily="34" charset="-122"/>
                <a:cs typeface="Roboto" pitchFamily="34" charset="-120"/>
              </a:rPr>
              <a:t>The churn model transforms raw predictions into a prioritized action framework. Each strategy below maps directly to a key churn driver identified through SHAP analysis — enabling precise, data-backed retention investment.</a:t>
            </a:r>
            <a:endParaRPr lang="en-US" sz="1500" b="0" dirty="0">
              <a:latin typeface="Aptos" panose="020B0004020202020204" pitchFamily="34" charset="0"/>
            </a:endParaRPr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0F229C68-47D6-3325-66AD-6F02B9B4BAA1}"/>
              </a:ext>
            </a:extLst>
          </p:cNvPr>
          <p:cNvSpPr/>
          <p:nvPr/>
        </p:nvSpPr>
        <p:spPr>
          <a:xfrm>
            <a:off x="500352" y="2192373"/>
            <a:ext cx="8386055" cy="3440668"/>
          </a:xfrm>
          <a:prstGeom prst="roundRect">
            <a:avLst>
              <a:gd name="adj" fmla="val 2423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FAC22F2F-7A7E-4943-0EC7-766919AEE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74" y="2698932"/>
            <a:ext cx="11174384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956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8779B9-5CA5-30B1-2C33-A5824F2B87C4}"/>
              </a:ext>
            </a:extLst>
          </p:cNvPr>
          <p:cNvSpPr txBox="1"/>
          <p:nvPr/>
        </p:nvSpPr>
        <p:spPr>
          <a:xfrm>
            <a:off x="4982441" y="2639291"/>
            <a:ext cx="2227118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>
                <a:solidFill>
                  <a:srgbClr val="FFA500"/>
                </a:solidFill>
                <a:latin typeface="Aptos" panose="020B00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21504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808</Words>
  <Application>Microsoft Office PowerPoint</Application>
  <PresentationFormat>Widescreen</PresentationFormat>
  <Paragraphs>133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Raleway</vt:lpstr>
      <vt:lpstr>Roboto</vt:lpstr>
      <vt:lpstr>Office Theme</vt:lpstr>
      <vt:lpstr>PowerPoint Presentation</vt:lpstr>
      <vt:lpstr>Machine Learning Study for Customer Retention Optimization </vt:lpstr>
      <vt:lpstr>Customer Retention Challenge </vt:lpstr>
      <vt:lpstr>Customer Behavioral Data Used </vt:lpstr>
      <vt:lpstr>Machine Learning Models Evaluated</vt:lpstr>
      <vt:lpstr>Model Benchmark Results</vt:lpstr>
      <vt:lpstr>Selected Model: LightGBM</vt:lpstr>
      <vt:lpstr>Top Drivers of Customer Churn</vt:lpstr>
      <vt:lpstr>Customer Behavior Patterns Leading to Churn</vt:lpstr>
      <vt:lpstr>Customer Retention Strategy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Shahnawaaz Bagwan</dc:creator>
  <cp:lastModifiedBy>Shahnawaaz Bagwan</cp:lastModifiedBy>
  <cp:revision>8</cp:revision>
  <dcterms:created xsi:type="dcterms:W3CDTF">2026-03-18T14:16:46Z</dcterms:created>
  <dcterms:modified xsi:type="dcterms:W3CDTF">2026-03-19T14:39:38Z</dcterms:modified>
</cp:coreProperties>
</file>